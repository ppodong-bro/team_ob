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337" r:id="rId2"/>
    <p:sldId id="257" r:id="rId3"/>
    <p:sldId id="258" r:id="rId4"/>
    <p:sldId id="259" r:id="rId5"/>
    <p:sldId id="260" r:id="rId6"/>
    <p:sldId id="261" r:id="rId7"/>
    <p:sldId id="331" r:id="rId8"/>
    <p:sldId id="327" r:id="rId9"/>
    <p:sldId id="335" r:id="rId10"/>
    <p:sldId id="287" r:id="rId11"/>
    <p:sldId id="279" r:id="rId12"/>
    <p:sldId id="288" r:id="rId13"/>
    <p:sldId id="289" r:id="rId14"/>
    <p:sldId id="265" r:id="rId15"/>
    <p:sldId id="266" r:id="rId16"/>
    <p:sldId id="267" r:id="rId17"/>
    <p:sldId id="268" r:id="rId18"/>
    <p:sldId id="272" r:id="rId19"/>
    <p:sldId id="319" r:id="rId20"/>
    <p:sldId id="278" r:id="rId21"/>
    <p:sldId id="320" r:id="rId22"/>
    <p:sldId id="277" r:id="rId23"/>
    <p:sldId id="286" r:id="rId24"/>
    <p:sldId id="311" r:id="rId25"/>
    <p:sldId id="312" r:id="rId26"/>
    <p:sldId id="313" r:id="rId27"/>
    <p:sldId id="315" r:id="rId28"/>
    <p:sldId id="316" r:id="rId29"/>
    <p:sldId id="318" r:id="rId30"/>
    <p:sldId id="290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3" r:id="rId41"/>
    <p:sldId id="304" r:id="rId42"/>
    <p:sldId id="305" r:id="rId43"/>
    <p:sldId id="306" r:id="rId44"/>
    <p:sldId id="307" r:id="rId45"/>
    <p:sldId id="308" r:id="rId46"/>
    <p:sldId id="310" r:id="rId47"/>
    <p:sldId id="285" r:id="rId48"/>
    <p:sldId id="280" r:id="rId49"/>
    <p:sldId id="281" r:id="rId50"/>
    <p:sldId id="282" r:id="rId51"/>
    <p:sldId id="283" r:id="rId52"/>
    <p:sldId id="284" r:id="rId53"/>
    <p:sldId id="336" r:id="rId54"/>
    <p:sldId id="323" r:id="rId55"/>
    <p:sldId id="324" r:id="rId56"/>
    <p:sldId id="325" r:id="rId57"/>
    <p:sldId id="326" r:id="rId58"/>
    <p:sldId id="334" r:id="rId59"/>
    <p:sldId id="332" r:id="rId60"/>
    <p:sldId id="333" r:id="rId61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6" userDrawn="1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8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62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1445" y="370"/>
      </p:cViewPr>
      <p:guideLst>
        <p:guide orient="horz" pos="2906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431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97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15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18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8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65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9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41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49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25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42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0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48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90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B2A8-1236-3594-98B8-9DCA4BE0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BF93D-34F1-2FB0-8955-6D1173D76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F8A5A-57E2-4E2B-6FFD-AAD128F6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13B06-EB21-80D3-C69A-393ECCC23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04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A7C9-231F-3DBB-30CD-849A9675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F464C-EC15-CB3B-D5C4-29C9A2230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BA434-3FC7-08E7-958E-4AF8AEE69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A4E9A-B4FE-CF7E-656B-E37DBD28B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99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9EAC5-D876-B5ED-CDD3-D950D53A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D4E66-16BD-0313-5BA4-6DF2F6404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8FC88-5BBF-935E-4349-EFCEF7C4A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FBD5E-37E1-554F-AB9E-6CB90EE4A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9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E918-945A-23BA-FB8E-900271A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6E6CC-D3C4-3A40-7675-AAF124075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0969A-5600-7CB0-43E9-B4C1EAEE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CDDA-F41E-AAD4-19A4-52C948D6E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19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251F-6628-0357-09CE-AE62BDB0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616AA-3D63-6748-55E1-0635A37D3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79E61-C3A7-C87F-1EF0-8AFF78383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260E0-FEE4-9E2E-92CC-253D4991E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85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254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019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7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624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90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67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995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329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298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643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451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128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192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638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643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4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51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781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E918-945A-23BA-FB8E-900271A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6E6CC-D3C4-3A40-7675-AAF124075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0969A-5600-7CB0-43E9-B4C1EAEE7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CDDA-F41E-AAD4-19A4-52C948D6E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9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E918-945A-23BA-FB8E-900271A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6E6CC-D3C4-3A40-7675-AAF124075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0969A-5600-7CB0-43E9-B4C1EAEE7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CDDA-F41E-AAD4-19A4-52C948D6E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851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E918-945A-23BA-FB8E-900271A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6E6CC-D3C4-3A40-7675-AAF124075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0969A-5600-7CB0-43E9-B4C1EAEE7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CDDA-F41E-AAD4-19A4-52C948D6E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907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E918-945A-23BA-FB8E-900271A0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6E6CC-D3C4-3A40-7675-AAF124075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0969A-5600-7CB0-43E9-B4C1EAEE7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CDDA-F41E-AAD4-19A4-52C948D6E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336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255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74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6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8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3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9DC13C7-F57F-BEC2-21BA-A031479D3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18" y="1993229"/>
            <a:ext cx="16450802" cy="73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97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42" y="3510166"/>
            <a:ext cx="11552645" cy="5670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20795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프로필 아이콘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527473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로그아웃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3677150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프로필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 flipV="1">
            <a:off x="12472988" y="4694449"/>
            <a:ext cx="547991" cy="93585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2549188" y="2435134"/>
            <a:ext cx="471791" cy="107503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773958" y="2867165"/>
            <a:ext cx="3344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프로필 아이콘 </a:t>
            </a:r>
            <a:r>
              <a:rPr lang="ko-KR" altLang="en-US" b="1" dirty="0" err="1">
                <a:solidFill>
                  <a:srgbClr val="8E8791"/>
                </a:solidFill>
              </a:rPr>
              <a:t>선택시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r>
              <a:rPr lang="ko-KR" altLang="en-US" b="1" dirty="0" err="1">
                <a:solidFill>
                  <a:srgbClr val="8E8791"/>
                </a:solidFill>
              </a:rPr>
              <a:t>드롭다운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74743" y="4466857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로그인한 사용자의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프로필 페이지로 이동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775528" y="6066549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로그아웃 후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로그인 페이지로 이동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2472988" y="4032719"/>
            <a:ext cx="547991" cy="25217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7001706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회사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75528" y="7793520"/>
            <a:ext cx="3177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대표자 </a:t>
            </a:r>
            <a:r>
              <a:rPr lang="en-US" altLang="ko-KR" b="1" dirty="0">
                <a:solidFill>
                  <a:srgbClr val="8E8791"/>
                </a:solidFill>
              </a:rPr>
              <a:t>: </a:t>
            </a:r>
            <a:r>
              <a:rPr lang="ko-KR" altLang="en-US" b="1" dirty="0">
                <a:solidFill>
                  <a:srgbClr val="8E8791"/>
                </a:solidFill>
              </a:rPr>
              <a:t>영업본부 부서장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국내문의 </a:t>
            </a:r>
            <a:r>
              <a:rPr lang="en-US" altLang="ko-KR" b="1" dirty="0">
                <a:solidFill>
                  <a:srgbClr val="8E8791"/>
                </a:solidFill>
              </a:rPr>
              <a:t>: </a:t>
            </a:r>
            <a:r>
              <a:rPr lang="ko-KR" altLang="en-US" b="1" dirty="0" err="1">
                <a:solidFill>
                  <a:srgbClr val="8E8791"/>
                </a:solidFill>
              </a:rPr>
              <a:t>국내영업팀</a:t>
            </a:r>
            <a:r>
              <a:rPr lang="ko-KR" altLang="en-US" b="1" dirty="0">
                <a:solidFill>
                  <a:srgbClr val="8E8791"/>
                </a:solidFill>
              </a:rPr>
              <a:t> 부서장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해외문의 </a:t>
            </a:r>
            <a:r>
              <a:rPr lang="en-US" altLang="ko-KR" b="1" dirty="0">
                <a:solidFill>
                  <a:srgbClr val="8E8791"/>
                </a:solidFill>
              </a:rPr>
              <a:t>: </a:t>
            </a:r>
            <a:r>
              <a:rPr lang="ko-KR" altLang="en-US" b="1" dirty="0" err="1">
                <a:solidFill>
                  <a:srgbClr val="8E8791"/>
                </a:solidFill>
              </a:rPr>
              <a:t>해외영업팀</a:t>
            </a:r>
            <a:r>
              <a:rPr lang="ko-KR" altLang="en-US" b="1" dirty="0">
                <a:solidFill>
                  <a:srgbClr val="8E8791"/>
                </a:solidFill>
              </a:rPr>
              <a:t> 부서장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7692571" y="7357275"/>
            <a:ext cx="5328408" cy="148192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1349538" y="2616808"/>
            <a:ext cx="416011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헤더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푸터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12948672" y="1937938"/>
            <a:ext cx="1006829" cy="1006829"/>
            <a:chOff x="12948672" y="1937938"/>
            <a:chExt cx="1006829" cy="1006829"/>
          </a:xfrm>
        </p:grpSpPr>
        <p:pic>
          <p:nvPicPr>
            <p:cNvPr id="51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12953139" y="3564076"/>
            <a:ext cx="1006829" cy="1006829"/>
            <a:chOff x="12948672" y="1937938"/>
            <a:chExt cx="1006829" cy="1006829"/>
          </a:xfrm>
        </p:grpSpPr>
        <p:pic>
          <p:nvPicPr>
            <p:cNvPr id="5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12934797" y="5130095"/>
            <a:ext cx="1006829" cy="1006829"/>
            <a:chOff x="12948672" y="1937938"/>
            <a:chExt cx="1006829" cy="1006829"/>
          </a:xfrm>
        </p:grpSpPr>
        <p:pic>
          <p:nvPicPr>
            <p:cNvPr id="6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12953139" y="6857066"/>
            <a:ext cx="1006829" cy="1006829"/>
            <a:chOff x="12948672" y="1937938"/>
            <a:chExt cx="1006829" cy="1006829"/>
          </a:xfrm>
        </p:grpSpPr>
        <p:pic>
          <p:nvPicPr>
            <p:cNvPr id="6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TextBox 6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791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64" y="3314109"/>
            <a:ext cx="12072455" cy="5919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5343311" y="5297091"/>
            <a:ext cx="7639568" cy="152280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201401" y="3852359"/>
            <a:ext cx="1781478" cy="23184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5981700" y="2409734"/>
            <a:ext cx="7001179" cy="155854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9283700" y="6743930"/>
            <a:ext cx="3699179" cy="10862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 flipV="1">
            <a:off x="12395200" y="7118210"/>
            <a:ext cx="587679" cy="56321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/>
          <p:cNvGrpSpPr/>
          <p:nvPr/>
        </p:nvGrpSpPr>
        <p:grpSpPr>
          <a:xfrm>
            <a:off x="13451106" y="2054165"/>
            <a:ext cx="3391110" cy="1156932"/>
            <a:chOff x="13489206" y="2041465"/>
            <a:chExt cx="3391110" cy="115693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13489206" y="204146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거래실적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3773958" y="2829065"/>
              <a:ext cx="2005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8E8791"/>
                  </a:solidFill>
                </a:rPr>
                <a:t>월별 총 매출</a:t>
              </a:r>
              <a:r>
                <a:rPr lang="en-US" altLang="ko-KR" b="1" dirty="0">
                  <a:solidFill>
                    <a:srgbClr val="8E8791"/>
                  </a:solidFill>
                </a:rPr>
                <a:t>/</a:t>
              </a:r>
              <a:r>
                <a:rPr lang="ko-KR" altLang="en-US" b="1" dirty="0">
                  <a:solidFill>
                    <a:srgbClr val="8E8791"/>
                  </a:solidFill>
                </a:rPr>
                <a:t>매입</a:t>
              </a:r>
              <a:endParaRPr lang="en-US" altLang="ko-KR" b="1" dirty="0">
                <a:solidFill>
                  <a:srgbClr val="8E8791"/>
                </a:solidFill>
              </a:endParaRPr>
            </a:p>
          </p:txBody>
        </p:sp>
      </p:grpSp>
      <p:grpSp>
        <p:nvGrpSpPr>
          <p:cNvPr id="71" name="그룹 70"/>
          <p:cNvGrpSpPr/>
          <p:nvPr/>
        </p:nvGrpSpPr>
        <p:grpSpPr>
          <a:xfrm>
            <a:off x="13451106" y="3496790"/>
            <a:ext cx="3391110" cy="1159039"/>
            <a:chOff x="13489206" y="3397750"/>
            <a:chExt cx="3391110" cy="1159039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13489206" y="3397750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재고현황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3774743" y="4187457"/>
              <a:ext cx="2704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8E8791"/>
                  </a:solidFill>
                </a:rPr>
                <a:t>현 재고의 창고 차지 비율</a:t>
              </a:r>
              <a:endParaRPr lang="en-US" altLang="ko-KR" b="1" dirty="0">
                <a:solidFill>
                  <a:srgbClr val="8E8791"/>
                </a:solidFill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13451106" y="4941522"/>
            <a:ext cx="3616080" cy="1161146"/>
            <a:chOff x="13489206" y="4995335"/>
            <a:chExt cx="3616080" cy="1161146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13489206" y="4995335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거래처실적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3775528" y="5787149"/>
              <a:ext cx="3329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8E8791"/>
                  </a:solidFill>
                </a:rPr>
                <a:t>거래처별 최근 </a:t>
              </a:r>
              <a:r>
                <a:rPr lang="en-US" altLang="ko-KR" b="1" dirty="0">
                  <a:solidFill>
                    <a:srgbClr val="8E8791"/>
                  </a:solidFill>
                </a:rPr>
                <a:t>6</a:t>
              </a:r>
              <a:r>
                <a:rPr lang="ko-KR" altLang="en-US" b="1" dirty="0">
                  <a:solidFill>
                    <a:srgbClr val="8E8791"/>
                  </a:solidFill>
                </a:rPr>
                <a:t>개월 매출</a:t>
              </a:r>
              <a:r>
                <a:rPr lang="en-US" altLang="ko-KR" b="1" dirty="0">
                  <a:solidFill>
                    <a:srgbClr val="8E8791"/>
                  </a:solidFill>
                </a:rPr>
                <a:t>/</a:t>
              </a:r>
              <a:r>
                <a:rPr lang="ko-KR" altLang="en-US" b="1" dirty="0">
                  <a:solidFill>
                    <a:srgbClr val="8E8791"/>
                  </a:solidFill>
                </a:rPr>
                <a:t>매입</a:t>
              </a:r>
              <a:endParaRPr lang="en-US" altLang="ko-KR" b="1" dirty="0">
                <a:solidFill>
                  <a:srgbClr val="8E8791"/>
                </a:solidFill>
              </a:endParaRP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13451106" y="6388361"/>
            <a:ext cx="3400460" cy="1440252"/>
            <a:chOff x="13489206" y="6592920"/>
            <a:chExt cx="3400460" cy="144025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13489206" y="6592920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공지사항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3776313" y="7386841"/>
              <a:ext cx="31133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8E8791"/>
                  </a:solidFill>
                </a:rPr>
                <a:t>사내 공지사항</a:t>
              </a:r>
              <a:endParaRPr lang="en-US" altLang="ko-KR" b="1" dirty="0">
                <a:solidFill>
                  <a:srgbClr val="8E8791"/>
                </a:solidFill>
              </a:endParaRPr>
            </a:p>
            <a:p>
              <a:r>
                <a:rPr lang="ko-KR" altLang="en-US" b="1" dirty="0" err="1">
                  <a:solidFill>
                    <a:srgbClr val="8E8791"/>
                  </a:solidFill>
                </a:rPr>
                <a:t>선택시</a:t>
              </a:r>
              <a:r>
                <a:rPr lang="ko-KR" altLang="en-US" b="1" dirty="0">
                  <a:solidFill>
                    <a:srgbClr val="8E8791"/>
                  </a:solidFill>
                </a:rPr>
                <a:t> 공지사항 페이지 이동</a:t>
              </a:r>
              <a:endParaRPr lang="en-US" altLang="ko-KR" b="1" dirty="0">
                <a:solidFill>
                  <a:srgbClr val="8E8791"/>
                </a:solidFill>
              </a:endParaRP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13451106" y="8114306"/>
            <a:ext cx="3391110" cy="1165359"/>
            <a:chOff x="13489206" y="8101606"/>
            <a:chExt cx="3391110" cy="1165359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C269048-5426-9E48-CB91-312AE01BA921}"/>
                </a:ext>
              </a:extLst>
            </p:cNvPr>
            <p:cNvSpPr/>
            <p:nvPr/>
          </p:nvSpPr>
          <p:spPr>
            <a:xfrm>
              <a:off x="13489206" y="8101606"/>
              <a:ext cx="3391110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날씨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3777098" y="8897633"/>
              <a:ext cx="21900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8E8791"/>
                  </a:solidFill>
                </a:rPr>
                <a:t>위치 기반 현재 날씨</a:t>
              </a:r>
              <a:endParaRPr lang="en-US" altLang="ko-KR" b="1" dirty="0">
                <a:solidFill>
                  <a:srgbClr val="8E8791"/>
                </a:solidFill>
              </a:endParaRPr>
            </a:p>
          </p:txBody>
        </p:sp>
      </p:grpSp>
      <p:sp>
        <p:nvSpPr>
          <p:cNvPr id="62" name="직사각형 61"/>
          <p:cNvSpPr/>
          <p:nvPr/>
        </p:nvSpPr>
        <p:spPr>
          <a:xfrm>
            <a:off x="1349538" y="2616808"/>
            <a:ext cx="403187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대시보드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12948672" y="1937938"/>
            <a:ext cx="1006829" cy="1006829"/>
            <a:chOff x="12948672" y="1937938"/>
            <a:chExt cx="1006829" cy="1006829"/>
          </a:xfrm>
        </p:grpSpPr>
        <p:pic>
          <p:nvPicPr>
            <p:cNvPr id="4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12953139" y="3363632"/>
            <a:ext cx="1006829" cy="1006829"/>
            <a:chOff x="12948672" y="1937938"/>
            <a:chExt cx="1006829" cy="1006829"/>
          </a:xfrm>
        </p:grpSpPr>
        <p:pic>
          <p:nvPicPr>
            <p:cNvPr id="5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5" name="TextBox 6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12934797" y="4803840"/>
            <a:ext cx="1006829" cy="1006829"/>
            <a:chOff x="12948672" y="1937938"/>
            <a:chExt cx="1006829" cy="1006829"/>
          </a:xfrm>
        </p:grpSpPr>
        <p:pic>
          <p:nvPicPr>
            <p:cNvPr id="67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7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12953139" y="6244048"/>
            <a:ext cx="1006829" cy="1006829"/>
            <a:chOff x="12948672" y="1937938"/>
            <a:chExt cx="1006829" cy="1006829"/>
          </a:xfrm>
        </p:grpSpPr>
        <p:pic>
          <p:nvPicPr>
            <p:cNvPr id="7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6" name="TextBox 7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2953139" y="7969666"/>
            <a:ext cx="1006829" cy="1006829"/>
            <a:chOff x="12948672" y="1937938"/>
            <a:chExt cx="1006829" cy="1006829"/>
          </a:xfrm>
        </p:grpSpPr>
        <p:pic>
          <p:nvPicPr>
            <p:cNvPr id="7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TextBox 7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05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106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65" y="5676869"/>
            <a:ext cx="7150450" cy="350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51106" y="20541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거래실적 팝업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51106" y="3651750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품목검색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35858" y="2841765"/>
            <a:ext cx="21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가장 많은 거래금의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품목 그래프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36643" y="4441457"/>
            <a:ext cx="267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8E8791"/>
                </a:solidFill>
              </a:rPr>
              <a:t>AJAX </a:t>
            </a:r>
            <a:r>
              <a:rPr lang="ko-KR" altLang="en-US" b="1" dirty="0">
                <a:solidFill>
                  <a:srgbClr val="8E8791"/>
                </a:solidFill>
              </a:rPr>
              <a:t>활용 품목 가져오기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4686714" y="3435129"/>
            <a:ext cx="7429086" cy="5670176"/>
            <a:chOff x="4039960" y="3690412"/>
            <a:chExt cx="5639633" cy="4271938"/>
          </a:xfrm>
        </p:grpSpPr>
        <p:sp>
          <p:nvSpPr>
            <p:cNvPr id="5" name="사각형 설명선 4"/>
            <p:cNvSpPr/>
            <p:nvPr/>
          </p:nvSpPr>
          <p:spPr>
            <a:xfrm>
              <a:off x="4039960" y="3690412"/>
              <a:ext cx="5639633" cy="4259708"/>
            </a:xfrm>
            <a:prstGeom prst="wedgeRectCallout">
              <a:avLst>
                <a:gd name="adj1" fmla="val -60237"/>
                <a:gd name="adj2" fmla="val 12693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9960" y="3690412"/>
              <a:ext cx="5639633" cy="427193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9055100" y="2409734"/>
            <a:ext cx="3927779" cy="10253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912600" y="4007319"/>
            <a:ext cx="1070279" cy="904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1349538" y="2616808"/>
            <a:ext cx="5378395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대시보드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거래실적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12948672" y="1937938"/>
            <a:ext cx="1006829" cy="1006829"/>
            <a:chOff x="12948672" y="1937938"/>
            <a:chExt cx="1006829" cy="1006829"/>
          </a:xfrm>
        </p:grpSpPr>
        <p:pic>
          <p:nvPicPr>
            <p:cNvPr id="2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12953139" y="3523286"/>
            <a:ext cx="1006829" cy="1006829"/>
            <a:chOff x="12948672" y="1937938"/>
            <a:chExt cx="1006829" cy="1006829"/>
          </a:xfrm>
        </p:grpSpPr>
        <p:pic>
          <p:nvPicPr>
            <p:cNvPr id="31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699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65" y="5664169"/>
            <a:ext cx="7150450" cy="350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20668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거래처실적 팝업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3664450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거래처검색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73958" y="2854465"/>
            <a:ext cx="21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가장 많은 거래금의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거래처 그래프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74743" y="4454157"/>
            <a:ext cx="2901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8E8791"/>
                </a:solidFill>
              </a:rPr>
              <a:t>AJAX </a:t>
            </a:r>
            <a:r>
              <a:rPr lang="ko-KR" altLang="en-US" b="1" dirty="0">
                <a:solidFill>
                  <a:srgbClr val="8E8791"/>
                </a:solidFill>
              </a:rPr>
              <a:t>활용 거래처 가져오기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288544" y="3435129"/>
            <a:ext cx="7215832" cy="5465885"/>
            <a:chOff x="4686714" y="3622168"/>
            <a:chExt cx="7215832" cy="5465885"/>
          </a:xfrm>
        </p:grpSpPr>
        <p:sp>
          <p:nvSpPr>
            <p:cNvPr id="5" name="사각형 설명선 4"/>
            <p:cNvSpPr/>
            <p:nvPr/>
          </p:nvSpPr>
          <p:spPr>
            <a:xfrm>
              <a:off x="4686714" y="3622168"/>
              <a:ext cx="7215832" cy="5465885"/>
            </a:xfrm>
            <a:prstGeom prst="wedgeRectCallout">
              <a:avLst>
                <a:gd name="adj1" fmla="val -67981"/>
                <a:gd name="adj2" fmla="val 39878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7194" y="3635983"/>
              <a:ext cx="7162386" cy="5425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2382500" y="4020019"/>
            <a:ext cx="638479" cy="18099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5686172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대시보드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거래처실적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9347200" y="2422434"/>
            <a:ext cx="3673779" cy="102651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/>
          <p:cNvGrpSpPr/>
          <p:nvPr/>
        </p:nvGrpSpPr>
        <p:grpSpPr>
          <a:xfrm>
            <a:off x="12948672" y="1937938"/>
            <a:ext cx="1006829" cy="1006829"/>
            <a:chOff x="12948672" y="1937938"/>
            <a:chExt cx="1006829" cy="1006829"/>
          </a:xfrm>
        </p:grpSpPr>
        <p:pic>
          <p:nvPicPr>
            <p:cNvPr id="31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12953139" y="3523286"/>
            <a:ext cx="1006829" cy="1006829"/>
            <a:chOff x="12948672" y="1937938"/>
            <a:chExt cx="1006829" cy="1006829"/>
          </a:xfrm>
        </p:grpSpPr>
        <p:pic>
          <p:nvPicPr>
            <p:cNvPr id="3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02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130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l="4905"/>
          <a:stretch/>
        </p:blipFill>
        <p:spPr>
          <a:xfrm>
            <a:off x="902825" y="2954910"/>
            <a:ext cx="5772137" cy="6176120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4953000" y="3292110"/>
            <a:ext cx="2632534" cy="368019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918713" y="2215003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로그인 페이지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926184" y="3429789"/>
            <a:ext cx="8445778" cy="1714336"/>
            <a:chOff x="6067300" y="1728150"/>
            <a:chExt cx="6420827" cy="2484905"/>
          </a:xfrm>
        </p:grpSpPr>
        <p:pic>
          <p:nvPicPr>
            <p:cNvPr id="20" name="Object 33"/>
            <p:cNvPicPr>
              <a:picLocks noChangeAspect="1"/>
            </p:cNvPicPr>
            <p:nvPr/>
          </p:nvPicPr>
          <p:blipFill rotWithShape="1">
            <a:blip r:embed="rId5" cstate="print"/>
            <a:srcRect r="12335"/>
            <a:stretch/>
          </p:blipFill>
          <p:spPr>
            <a:xfrm>
              <a:off x="6067300" y="1728150"/>
              <a:ext cx="6420827" cy="2484905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8039258" y="3493440"/>
            <a:ext cx="7212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접근 제어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승인 완료 계정만 서비스 이용 허용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9258" y="3850070"/>
            <a:ext cx="816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오류 안내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오입력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/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승인 대기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등 유형별 메시지 제공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9258" y="4219400"/>
            <a:ext cx="7520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파트너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온보딩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회원가입 파트너 전용 분리 운영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9258" y="4588730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보안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Spring Security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적용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비밀번호 </a:t>
            </a:r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암호화 적용 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1787" y="5260074"/>
            <a:ext cx="8684454" cy="35711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C9928B2-0021-EF59-8CB5-71B5E76CD6CF}"/>
              </a:ext>
            </a:extLst>
          </p:cNvPr>
          <p:cNvSpPr/>
          <p:nvPr/>
        </p:nvSpPr>
        <p:spPr>
          <a:xfrm>
            <a:off x="7810392" y="2579205"/>
            <a:ext cx="3530708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 smtClean="0">
                <a:solidFill>
                  <a:srgbClr val="8E8791"/>
                </a:solidFill>
              </a:rPr>
              <a:t>       인증된 </a:t>
            </a:r>
            <a:r>
              <a:rPr lang="ko-KR" altLang="en-US" sz="2200" b="1" dirty="0">
                <a:solidFill>
                  <a:srgbClr val="8E8791"/>
                </a:solidFill>
              </a:rPr>
              <a:t>계정 접근 허용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D41B37C-0CA0-FFE0-1C99-B5D86B711E60}"/>
              </a:ext>
            </a:extLst>
          </p:cNvPr>
          <p:cNvGrpSpPr/>
          <p:nvPr/>
        </p:nvGrpSpPr>
        <p:grpSpPr>
          <a:xfrm>
            <a:off x="7269859" y="2437578"/>
            <a:ext cx="1006829" cy="1006829"/>
            <a:chOff x="12948672" y="1937938"/>
            <a:chExt cx="1006829" cy="1006829"/>
          </a:xfrm>
        </p:grpSpPr>
        <p:pic>
          <p:nvPicPr>
            <p:cNvPr id="7" name="Picture 10" descr="C:\Users\user\Downloads\free-icon-laptop-6611269.png">
              <a:extLst>
                <a:ext uri="{FF2B5EF4-FFF2-40B4-BE49-F238E27FC236}">
                  <a16:creationId xmlns:a16="http://schemas.microsoft.com/office/drawing/2014/main" id="{71AB8EF8-A2F3-6C3C-F875-783D96C83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4DCD3F-D1C1-A49A-13CB-8DCED9E593FB}"/>
                </a:ext>
              </a:extLst>
            </p:cNvPr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92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348934" y="2215003"/>
            <a:ext cx="4628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PARTNER 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회원가입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751032" y="3693836"/>
            <a:ext cx="8517466" cy="1264759"/>
            <a:chOff x="6052395" y="1624789"/>
            <a:chExt cx="6420827" cy="2697813"/>
          </a:xfrm>
        </p:grpSpPr>
        <p:pic>
          <p:nvPicPr>
            <p:cNvPr id="20" name="Object 33"/>
            <p:cNvPicPr>
              <a:picLocks noChangeAspect="1"/>
            </p:cNvPicPr>
            <p:nvPr/>
          </p:nvPicPr>
          <p:blipFill rotWithShape="1">
            <a:blip r:embed="rId4" cstate="print"/>
            <a:srcRect r="12335"/>
            <a:stretch/>
          </p:blipFill>
          <p:spPr>
            <a:xfrm>
              <a:off x="6052395" y="1624789"/>
              <a:ext cx="6420827" cy="269781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7129519" y="4334888"/>
            <a:ext cx="814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접근 제어 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승인전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로그인 차단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최소권한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원칙 적용 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056" y="2835900"/>
            <a:ext cx="5143946" cy="6309907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5352509" y="3647991"/>
            <a:ext cx="1270945" cy="214970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29519" y="3779665"/>
            <a:ext cx="8032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파트너번호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인증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관리자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선등록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유효성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실시간 검증 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4232918" y="5767578"/>
            <a:ext cx="2224182" cy="181088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6"/>
          <a:srcRect b="49763"/>
          <a:stretch/>
        </p:blipFill>
        <p:spPr>
          <a:xfrm>
            <a:off x="6751031" y="6123362"/>
            <a:ext cx="8517466" cy="269433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7CC91E1-5CCB-0752-F93E-5D3AD61413FF}"/>
              </a:ext>
            </a:extLst>
          </p:cNvPr>
          <p:cNvSpPr/>
          <p:nvPr/>
        </p:nvSpPr>
        <p:spPr>
          <a:xfrm>
            <a:off x="6881261" y="2851943"/>
            <a:ext cx="437093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>
                <a:solidFill>
                  <a:srgbClr val="8E8791"/>
                </a:solidFill>
              </a:rPr>
              <a:t> </a:t>
            </a:r>
            <a:r>
              <a:rPr lang="ko-KR" altLang="en-US" sz="2200" b="1" dirty="0" smtClean="0">
                <a:solidFill>
                  <a:srgbClr val="8E8791"/>
                </a:solidFill>
              </a:rPr>
              <a:t>      인증된 </a:t>
            </a:r>
            <a:r>
              <a:rPr lang="ko-KR" altLang="en-US" sz="2200" b="1" dirty="0">
                <a:solidFill>
                  <a:srgbClr val="8E8791"/>
                </a:solidFill>
              </a:rPr>
              <a:t>파트너 전용 접근 허용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46DAA49-58BC-226A-1D63-45D2C925A499}"/>
              </a:ext>
            </a:extLst>
          </p:cNvPr>
          <p:cNvGrpSpPr/>
          <p:nvPr/>
        </p:nvGrpSpPr>
        <p:grpSpPr>
          <a:xfrm>
            <a:off x="6340727" y="2710316"/>
            <a:ext cx="1006829" cy="1006829"/>
            <a:chOff x="12948672" y="1937938"/>
            <a:chExt cx="1006829" cy="1006829"/>
          </a:xfrm>
        </p:grpSpPr>
        <p:pic>
          <p:nvPicPr>
            <p:cNvPr id="6" name="Picture 10" descr="C:\Users\user\Downloads\free-icon-laptop-6611269.png">
              <a:extLst>
                <a:ext uri="{FF2B5EF4-FFF2-40B4-BE49-F238E27FC236}">
                  <a16:creationId xmlns:a16="http://schemas.microsoft.com/office/drawing/2014/main" id="{734FC09D-8E42-DFA6-9BBC-4F58428791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8AD9A4-0275-FBA7-ED9F-6997B7478EF3}"/>
                </a:ext>
              </a:extLst>
            </p:cNvPr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96026C-4D00-C60A-3B45-D86712992195}"/>
              </a:ext>
            </a:extLst>
          </p:cNvPr>
          <p:cNvSpPr/>
          <p:nvPr/>
        </p:nvSpPr>
        <p:spPr>
          <a:xfrm>
            <a:off x="6881260" y="5228488"/>
            <a:ext cx="656041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smtClean="0">
                <a:solidFill>
                  <a:srgbClr val="8E8791"/>
                </a:solidFill>
              </a:rPr>
              <a:t>승인 </a:t>
            </a:r>
            <a:r>
              <a:rPr lang="en-US" altLang="ko-KR" sz="2200" b="1" dirty="0">
                <a:solidFill>
                  <a:srgbClr val="8E8791"/>
                </a:solidFill>
              </a:rPr>
              <a:t>/ </a:t>
            </a:r>
            <a:r>
              <a:rPr lang="ko-KR" altLang="en-US" sz="2200" b="1" dirty="0">
                <a:solidFill>
                  <a:srgbClr val="8E8791"/>
                </a:solidFill>
              </a:rPr>
              <a:t>인증완료 및 필수 항목 </a:t>
            </a:r>
            <a:r>
              <a:rPr lang="ko-KR" altLang="en-US" sz="2200" b="1" dirty="0" err="1">
                <a:solidFill>
                  <a:srgbClr val="8E8791"/>
                </a:solidFill>
              </a:rPr>
              <a:t>충족시</a:t>
            </a:r>
            <a:r>
              <a:rPr lang="ko-KR" altLang="en-US" sz="2200" b="1" dirty="0">
                <a:solidFill>
                  <a:srgbClr val="8E8791"/>
                </a:solidFill>
              </a:rPr>
              <a:t> 활성화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F2158FB-5767-8528-683E-5596B952FB74}"/>
              </a:ext>
            </a:extLst>
          </p:cNvPr>
          <p:cNvGrpSpPr/>
          <p:nvPr/>
        </p:nvGrpSpPr>
        <p:grpSpPr>
          <a:xfrm>
            <a:off x="6340727" y="5086861"/>
            <a:ext cx="1006829" cy="1006829"/>
            <a:chOff x="12948672" y="1937938"/>
            <a:chExt cx="1006829" cy="1006829"/>
          </a:xfrm>
        </p:grpSpPr>
        <p:pic>
          <p:nvPicPr>
            <p:cNvPr id="30" name="Picture 10" descr="C:\Users\user\Downloads\free-icon-laptop-6611269.png">
              <a:extLst>
                <a:ext uri="{FF2B5EF4-FFF2-40B4-BE49-F238E27FC236}">
                  <a16:creationId xmlns:a16="http://schemas.microsoft.com/office/drawing/2014/main" id="{BDB519B0-FCB7-0DAC-AA2F-248023BD5E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CAC7C8-14CE-B842-5F8D-33ACF0A8C634}"/>
                </a:ext>
              </a:extLst>
            </p:cNvPr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597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066" y="3418512"/>
            <a:ext cx="9337023" cy="49997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8934" y="2215003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프로필 정보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9531465" y="4487299"/>
            <a:ext cx="1165480" cy="27390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8585200" y="7896644"/>
            <a:ext cx="1921934" cy="50341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/>
          <p:cNvGrpSpPr/>
          <p:nvPr/>
        </p:nvGrpSpPr>
        <p:grpSpPr>
          <a:xfrm>
            <a:off x="10844603" y="4526548"/>
            <a:ext cx="5797205" cy="1373561"/>
            <a:chOff x="6052395" y="1624789"/>
            <a:chExt cx="6420827" cy="2697813"/>
          </a:xfrm>
        </p:grpSpPr>
        <p:pic>
          <p:nvPicPr>
            <p:cNvPr id="52" name="Object 33"/>
            <p:cNvPicPr>
              <a:picLocks noChangeAspect="1"/>
            </p:cNvPicPr>
            <p:nvPr/>
          </p:nvPicPr>
          <p:blipFill rotWithShape="1">
            <a:blip r:embed="rId5" cstate="print"/>
            <a:srcRect r="12335"/>
            <a:stretch/>
          </p:blipFill>
          <p:spPr>
            <a:xfrm>
              <a:off x="6052395" y="1624789"/>
              <a:ext cx="6420827" cy="2697813"/>
            </a:xfrm>
            <a:prstGeom prst="rect">
              <a:avLst/>
            </a:prstGeom>
          </p:spPr>
        </p:pic>
      </p:grpSp>
      <p:sp>
        <p:nvSpPr>
          <p:cNvPr id="53" name="TextBox 52"/>
          <p:cNvSpPr txBox="1"/>
          <p:nvPr/>
        </p:nvSpPr>
        <p:spPr>
          <a:xfrm>
            <a:off x="11105704" y="5264636"/>
            <a:ext cx="45560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접근 제어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본인 계정만 수정 가능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5704" y="4694810"/>
            <a:ext cx="4322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프로필 사진 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업로드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교체 지원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A3C5E11-C42F-AB48-DF99-0881FDD17584}"/>
              </a:ext>
            </a:extLst>
          </p:cNvPr>
          <p:cNvGrpSpPr/>
          <p:nvPr/>
        </p:nvGrpSpPr>
        <p:grpSpPr>
          <a:xfrm>
            <a:off x="10514283" y="3524262"/>
            <a:ext cx="6183970" cy="1006829"/>
            <a:chOff x="7269859" y="2437578"/>
            <a:chExt cx="6183970" cy="100682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A70FE5E-C692-5D33-EA5A-342F5F708B07}"/>
                </a:ext>
              </a:extLst>
            </p:cNvPr>
            <p:cNvSpPr/>
            <p:nvPr/>
          </p:nvSpPr>
          <p:spPr>
            <a:xfrm>
              <a:off x="7810393" y="2579205"/>
              <a:ext cx="5643436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인증된 개인 정보 직접 수정</a:t>
              </a:r>
              <a:r>
                <a:rPr lang="en-US" altLang="ko-KR" sz="2200" b="1" dirty="0">
                  <a:solidFill>
                    <a:srgbClr val="8E8791"/>
                  </a:solidFill>
                </a:rPr>
                <a:t>(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사내</a:t>
              </a:r>
              <a:r>
                <a:rPr lang="en-US" altLang="ko-KR" sz="2200" b="1" dirty="0">
                  <a:solidFill>
                    <a:srgbClr val="8E8791"/>
                  </a:solidFill>
                </a:rPr>
                <a:t>/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외부</a:t>
              </a:r>
              <a:r>
                <a:rPr lang="en-US" altLang="ko-KR" sz="2200" b="1" dirty="0">
                  <a:solidFill>
                    <a:srgbClr val="8E8791"/>
                  </a:solidFill>
                </a:rPr>
                <a:t>)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144A11-88F0-531F-6610-1A7966820847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7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808E0DB1-3B92-A457-1A58-475B03F25D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94B876-EACF-9EE0-2862-0E7BE862CB5D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01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0FBE85-64B3-EA5E-F624-9A8D987FCC66}"/>
              </a:ext>
            </a:extLst>
          </p:cNvPr>
          <p:cNvSpPr/>
          <p:nvPr/>
        </p:nvSpPr>
        <p:spPr>
          <a:xfrm>
            <a:off x="11047668" y="8038271"/>
            <a:ext cx="5643436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>
                <a:solidFill>
                  <a:srgbClr val="8E8791"/>
                </a:solidFill>
              </a:rPr>
              <a:t> </a:t>
            </a:r>
            <a:r>
              <a:rPr lang="ko-KR" altLang="en-US" sz="2200" b="1" dirty="0" smtClean="0">
                <a:solidFill>
                  <a:srgbClr val="8E8791"/>
                </a:solidFill>
              </a:rPr>
              <a:t>      본인 </a:t>
            </a:r>
            <a:r>
              <a:rPr lang="ko-KR" altLang="en-US" sz="2200" b="1" dirty="0">
                <a:solidFill>
                  <a:srgbClr val="8E8791"/>
                </a:solidFill>
              </a:rPr>
              <a:t>비밀번호 재설정 링크 제공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675B2EC-3C0F-84B6-D8E2-305B187866C4}"/>
              </a:ext>
            </a:extLst>
          </p:cNvPr>
          <p:cNvGrpSpPr/>
          <p:nvPr/>
        </p:nvGrpSpPr>
        <p:grpSpPr>
          <a:xfrm>
            <a:off x="10507134" y="7896644"/>
            <a:ext cx="1006829" cy="1006829"/>
            <a:chOff x="12948672" y="1937938"/>
            <a:chExt cx="1006829" cy="1006829"/>
          </a:xfrm>
        </p:grpSpPr>
        <p:pic>
          <p:nvPicPr>
            <p:cNvPr id="12" name="Picture 10" descr="C:\Users\user\Downloads\free-icon-laptop-6611269.png">
              <a:extLst>
                <a:ext uri="{FF2B5EF4-FFF2-40B4-BE49-F238E27FC236}">
                  <a16:creationId xmlns:a16="http://schemas.microsoft.com/office/drawing/2014/main" id="{FC15F222-D374-A56B-91E2-70E9213C3F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61BB89-D5C6-BE94-7FAC-1529A98C7B3E}"/>
                </a:ext>
              </a:extLst>
            </p:cNvPr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572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420187" y="2229654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비밀번호 재설정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405121" y="4315571"/>
            <a:ext cx="8003896" cy="2730314"/>
            <a:chOff x="6052395" y="1624789"/>
            <a:chExt cx="6420827" cy="2697813"/>
          </a:xfrm>
        </p:grpSpPr>
        <p:pic>
          <p:nvPicPr>
            <p:cNvPr id="20" name="Object 33"/>
            <p:cNvPicPr>
              <a:picLocks noChangeAspect="1"/>
            </p:cNvPicPr>
            <p:nvPr/>
          </p:nvPicPr>
          <p:blipFill rotWithShape="1">
            <a:blip r:embed="rId4" cstate="print"/>
            <a:srcRect r="12335"/>
            <a:stretch/>
          </p:blipFill>
          <p:spPr>
            <a:xfrm>
              <a:off x="6052395" y="1624789"/>
              <a:ext cx="6420827" cy="269781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7588016" y="5083819"/>
            <a:ext cx="771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클라이언트 검증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최소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 및 일치 여부 즉시 검사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8016" y="5743088"/>
            <a:ext cx="6506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링크 전환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프로필 이동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로그인 화면 이동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8016" y="4424550"/>
            <a:ext cx="7725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사용자 식별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아이디 읽기 전용 필드로 자동 바인딩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81" y="3424144"/>
            <a:ext cx="5127605" cy="5277957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990395" y="3865211"/>
            <a:ext cx="1991725" cy="135497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 flipV="1">
            <a:off x="5537200" y="7378700"/>
            <a:ext cx="1444920" cy="76800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89944" y="6402357"/>
            <a:ext cx="7314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오류 안내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부적합시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유형별 시각적 피드백 제공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B67889-28DA-0520-58E8-97B15CA503C0}"/>
              </a:ext>
            </a:extLst>
          </p:cNvPr>
          <p:cNvSpPr/>
          <p:nvPr/>
        </p:nvSpPr>
        <p:spPr>
          <a:xfrm>
            <a:off x="7522654" y="3503423"/>
            <a:ext cx="5643436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>
                <a:solidFill>
                  <a:srgbClr val="8E8791"/>
                </a:solidFill>
              </a:rPr>
              <a:t> </a:t>
            </a:r>
            <a:r>
              <a:rPr lang="ko-KR" altLang="en-US" sz="2200" b="1" dirty="0" smtClean="0">
                <a:solidFill>
                  <a:srgbClr val="8E8791"/>
                </a:solidFill>
              </a:rPr>
              <a:t>      본인 </a:t>
            </a:r>
            <a:r>
              <a:rPr lang="ko-KR" altLang="en-US" sz="2200" b="1" dirty="0">
                <a:solidFill>
                  <a:srgbClr val="8E8791"/>
                </a:solidFill>
              </a:rPr>
              <a:t>인증 사용자 아이디 자동 셋팅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5EEE259-B1C1-267D-A4A7-EFDABA19B574}"/>
              </a:ext>
            </a:extLst>
          </p:cNvPr>
          <p:cNvGrpSpPr/>
          <p:nvPr/>
        </p:nvGrpSpPr>
        <p:grpSpPr>
          <a:xfrm>
            <a:off x="6982120" y="3361796"/>
            <a:ext cx="1006829" cy="1006829"/>
            <a:chOff x="12948672" y="1937938"/>
            <a:chExt cx="1006829" cy="1006829"/>
          </a:xfrm>
        </p:grpSpPr>
        <p:pic>
          <p:nvPicPr>
            <p:cNvPr id="7" name="Picture 10" descr="C:\Users\user\Downloads\free-icon-laptop-6611269.png">
              <a:extLst>
                <a:ext uri="{FF2B5EF4-FFF2-40B4-BE49-F238E27FC236}">
                  <a16:creationId xmlns:a16="http://schemas.microsoft.com/office/drawing/2014/main" id="{D12E3A6F-912C-B1E2-28B8-93D5F8198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F0C259-8A4D-F157-FD1D-5F1477DD2D40}"/>
                </a:ext>
              </a:extLst>
            </p:cNvPr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97BB50D-4E8C-19A6-280A-601340BDB23D}"/>
              </a:ext>
            </a:extLst>
          </p:cNvPr>
          <p:cNvGrpSpPr/>
          <p:nvPr/>
        </p:nvGrpSpPr>
        <p:grpSpPr>
          <a:xfrm>
            <a:off x="6864587" y="7622305"/>
            <a:ext cx="6183970" cy="1006829"/>
            <a:chOff x="7269859" y="2437578"/>
            <a:chExt cx="6183970" cy="100682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704CB3-1215-6535-4639-F28868FD3BB4}"/>
                </a:ext>
              </a:extLst>
            </p:cNvPr>
            <p:cNvSpPr/>
            <p:nvPr/>
          </p:nvSpPr>
          <p:spPr>
            <a:xfrm>
              <a:off x="7810393" y="2579205"/>
              <a:ext cx="5643436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비밀번호 </a:t>
              </a:r>
              <a:r>
                <a:rPr lang="ko-KR" altLang="en-US" sz="2200" b="1" dirty="0" err="1">
                  <a:solidFill>
                    <a:srgbClr val="8E8791"/>
                  </a:solidFill>
                </a:rPr>
                <a:t>변경시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 암호화 방식 서버 저장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9ACAEA1-25CF-28B6-1FAF-B4C862E10D05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13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FC948842-74B3-5335-4F1E-2CF9995058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B4DF7A-9D41-4D2C-6CCF-2BCD592C7DBD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02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292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420187" y="2229654"/>
            <a:ext cx="435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인사관리 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| </a:t>
            </a:r>
            <a:r>
              <a:rPr lang="ko-KR" altLang="en-US" sz="36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부서관리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99808" y="2410059"/>
            <a:ext cx="2480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부서 상세 </a:t>
            </a:r>
            <a:r>
              <a:rPr lang="en-US" altLang="ko-KR" sz="2400" dirty="0">
                <a:latin typeface="+mj-ea"/>
                <a:ea typeface="+mj-ea"/>
              </a:rPr>
              <a:t>/ </a:t>
            </a:r>
            <a:r>
              <a:rPr lang="ko-KR" altLang="en-US" sz="2400" dirty="0">
                <a:latin typeface="+mj-ea"/>
                <a:ea typeface="+mj-ea"/>
              </a:rPr>
              <a:t>수정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718" y="3527347"/>
            <a:ext cx="10719057" cy="5464013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1349140" y="4192568"/>
            <a:ext cx="744093" cy="50341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10780074" y="7666611"/>
            <a:ext cx="1313159" cy="83254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11760200" y="8638354"/>
            <a:ext cx="309757" cy="4305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7294617" y="5198182"/>
            <a:ext cx="4775340" cy="55551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7325099" y="6213298"/>
            <a:ext cx="4718078" cy="32546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A3236D48-AF0B-7442-457E-DD912B1D0EA6}"/>
              </a:ext>
            </a:extLst>
          </p:cNvPr>
          <p:cNvGrpSpPr/>
          <p:nvPr/>
        </p:nvGrpSpPr>
        <p:grpSpPr>
          <a:xfrm>
            <a:off x="12093233" y="3689153"/>
            <a:ext cx="4709128" cy="1006829"/>
            <a:chOff x="7269859" y="2437578"/>
            <a:chExt cx="4709128" cy="100682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DFD6DA9-938F-8044-51A3-6357FC2B18A1}"/>
                </a:ext>
              </a:extLst>
            </p:cNvPr>
            <p:cNvSpPr/>
            <p:nvPr/>
          </p:nvSpPr>
          <p:spPr>
            <a:xfrm>
              <a:off x="7810393" y="2579205"/>
              <a:ext cx="416859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</a:t>
              </a:r>
              <a:r>
                <a:rPr lang="en-US" altLang="ko-KR" sz="2200" b="1" dirty="0">
                  <a:solidFill>
                    <a:srgbClr val="8E8791"/>
                  </a:solidFill>
                </a:rPr>
                <a:t>API 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를 통한 주소 검색 활용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437BACC-77EE-AA4B-A88B-26CCD3D26FB8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7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5AE9A5F5-A87F-7579-1667-3AC3060AE2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D9763A-C953-B0F9-9445-62AFDE68176D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01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2EC3048-72B4-F558-1AE4-4173B4301910}"/>
              </a:ext>
            </a:extLst>
          </p:cNvPr>
          <p:cNvGrpSpPr/>
          <p:nvPr/>
        </p:nvGrpSpPr>
        <p:grpSpPr>
          <a:xfrm>
            <a:off x="12069957" y="4694767"/>
            <a:ext cx="4709128" cy="1006829"/>
            <a:chOff x="7269859" y="2437578"/>
            <a:chExt cx="4709128" cy="100682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D857FD8-A2E4-8848-42C5-2E8BC961491C}"/>
                </a:ext>
              </a:extLst>
            </p:cNvPr>
            <p:cNvSpPr/>
            <p:nvPr/>
          </p:nvSpPr>
          <p:spPr>
            <a:xfrm>
              <a:off x="7810393" y="2579205"/>
              <a:ext cx="416859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부서장 검색 </a:t>
              </a:r>
              <a:r>
                <a:rPr lang="ko-KR" altLang="en-US" sz="2200" b="1" dirty="0" err="1">
                  <a:solidFill>
                    <a:srgbClr val="8E8791"/>
                  </a:solidFill>
                </a:rPr>
                <a:t>모달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60A34FD-8987-60D0-E9CB-28CCD199278D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12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F6E60635-660B-9974-9D34-A9E46ECFB9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030804-BDBC-AE47-32A9-3AE5D7234A12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02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849C3D8-2390-53B4-589F-0B720C5D2FE7}"/>
              </a:ext>
            </a:extLst>
          </p:cNvPr>
          <p:cNvGrpSpPr/>
          <p:nvPr/>
        </p:nvGrpSpPr>
        <p:grpSpPr>
          <a:xfrm>
            <a:off x="12069957" y="5699653"/>
            <a:ext cx="4709128" cy="1006829"/>
            <a:chOff x="7269859" y="2437578"/>
            <a:chExt cx="4709128" cy="1006829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38B9ED6-B95C-0C49-301F-08E7EF8468D5}"/>
                </a:ext>
              </a:extLst>
            </p:cNvPr>
            <p:cNvSpPr/>
            <p:nvPr/>
          </p:nvSpPr>
          <p:spPr>
            <a:xfrm>
              <a:off x="7810393" y="2579205"/>
              <a:ext cx="416859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상위부서 검색 </a:t>
              </a:r>
              <a:r>
                <a:rPr lang="ko-KR" altLang="en-US" sz="2200" b="1" dirty="0" err="1">
                  <a:solidFill>
                    <a:srgbClr val="8E8791"/>
                  </a:solidFill>
                </a:rPr>
                <a:t>모달</a:t>
              </a:r>
              <a:endParaRPr lang="ko-KR" altLang="en-US" sz="2200" b="1" dirty="0">
                <a:solidFill>
                  <a:srgbClr val="8E8791"/>
                </a:solidFill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A16EA0C-7324-7AD1-5821-CEC941625737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18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D79D4D60-A515-5800-D309-1B22673E03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9A3462-E1E4-59FA-833C-1A1B1A292410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02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1A858B2-9F8C-9335-744A-95E59819F08E}"/>
              </a:ext>
            </a:extLst>
          </p:cNvPr>
          <p:cNvGrpSpPr/>
          <p:nvPr/>
        </p:nvGrpSpPr>
        <p:grpSpPr>
          <a:xfrm>
            <a:off x="12069957" y="8134939"/>
            <a:ext cx="4709128" cy="1006829"/>
            <a:chOff x="7269859" y="2437578"/>
            <a:chExt cx="4709128" cy="1006829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1E9438A-A1FE-8AC1-2641-CA22BE66112A}"/>
                </a:ext>
              </a:extLst>
            </p:cNvPr>
            <p:cNvSpPr/>
            <p:nvPr/>
          </p:nvSpPr>
          <p:spPr>
            <a:xfrm>
              <a:off x="7810393" y="2579205"/>
              <a:ext cx="416859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부서 상세 수정된 정보 저장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D30F93F9-6AA8-8433-04D6-17022CA57067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24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D00DA9C7-6A09-19F8-72D7-E9F67392EA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B7925A-BD79-7874-EDBB-01BC099955A0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03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DC5EF0-1601-45A9-EFDC-097576C9E1A5}"/>
              </a:ext>
            </a:extLst>
          </p:cNvPr>
          <p:cNvGrpSpPr/>
          <p:nvPr/>
        </p:nvGrpSpPr>
        <p:grpSpPr>
          <a:xfrm>
            <a:off x="12093233" y="7163196"/>
            <a:ext cx="4709128" cy="1006829"/>
            <a:chOff x="7269859" y="2437578"/>
            <a:chExt cx="4709128" cy="100682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6DBFD25-A237-F196-8F28-40465B593CF5}"/>
                </a:ext>
              </a:extLst>
            </p:cNvPr>
            <p:cNvSpPr/>
            <p:nvPr/>
          </p:nvSpPr>
          <p:spPr>
            <a:xfrm>
              <a:off x="7810393" y="2579205"/>
              <a:ext cx="4168594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부서 상세 정보 삭제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FDC41DD-82A5-2950-23E7-2AE497AF53D0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51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3B28C51A-53BD-6B96-3AF9-812F06818D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66AC1EF-EA63-5ABE-0359-20641A17E433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04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540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420187" y="2229654"/>
            <a:ext cx="435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인사관리 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| </a:t>
            </a:r>
            <a:r>
              <a:rPr lang="ko-KR" altLang="en-US" sz="36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사원관리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99808" y="241005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+mj-ea"/>
                <a:ea typeface="+mj-ea"/>
              </a:rPr>
              <a:t>사원등록</a:t>
            </a:r>
            <a:r>
              <a:rPr lang="ko-KR" altLang="en-US" sz="2400" dirty="0">
                <a:latin typeface="+mj-ea"/>
                <a:ea typeface="+mj-ea"/>
              </a:rPr>
              <a:t> 및 계정관리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rcRect l="14362" t="41751" r="1750" b="10447"/>
          <a:stretch/>
        </p:blipFill>
        <p:spPr>
          <a:xfrm>
            <a:off x="1308101" y="3558445"/>
            <a:ext cx="9502446" cy="527126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76001" y="3971631"/>
            <a:ext cx="4219038" cy="169904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10373162" y="4407816"/>
            <a:ext cx="6319718" cy="2024489"/>
            <a:chOff x="6052395" y="1624789"/>
            <a:chExt cx="6420827" cy="2697813"/>
          </a:xfrm>
        </p:grpSpPr>
        <p:pic>
          <p:nvPicPr>
            <p:cNvPr id="19" name="Object 33"/>
            <p:cNvPicPr>
              <a:picLocks noChangeAspect="1"/>
            </p:cNvPicPr>
            <p:nvPr/>
          </p:nvPicPr>
          <p:blipFill rotWithShape="1">
            <a:blip r:embed="rId5" cstate="print"/>
            <a:srcRect r="12335"/>
            <a:stretch/>
          </p:blipFill>
          <p:spPr>
            <a:xfrm>
              <a:off x="6052395" y="1624789"/>
              <a:ext cx="6420827" cy="269781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10506571" y="5202759"/>
            <a:ext cx="6083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승인 전 검증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관리자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선등록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인증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6571" y="5877190"/>
            <a:ext cx="6083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승인 처리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회원가입 대기자 승인 완료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06571" y="4516795"/>
            <a:ext cx="6186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로그인 접근 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승인 후 로그인 접근 허용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20802AF-13D8-D930-3AF1-1196D00CCC49}"/>
              </a:ext>
            </a:extLst>
          </p:cNvPr>
          <p:cNvGrpSpPr/>
          <p:nvPr/>
        </p:nvGrpSpPr>
        <p:grpSpPr>
          <a:xfrm>
            <a:off x="10297026" y="3404066"/>
            <a:ext cx="6395854" cy="1006829"/>
            <a:chOff x="7269859" y="2437578"/>
            <a:chExt cx="6293262" cy="1006829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8B303BA-8920-7FEA-4908-FFD263C6A6B0}"/>
                </a:ext>
              </a:extLst>
            </p:cNvPr>
            <p:cNvSpPr/>
            <p:nvPr/>
          </p:nvSpPr>
          <p:spPr>
            <a:xfrm>
              <a:off x="7810393" y="2579205"/>
              <a:ext cx="5752728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파트너 대상 회원가입 대기자 승인 처리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D7BDED3-29BC-4861-EA4B-F8F8AA0DF637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6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5988054E-8543-5823-A507-7B86B63779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970A0B-E494-1BB6-B28D-0A022589C43B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01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290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420187" y="2229654"/>
            <a:ext cx="435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인사관리 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| </a:t>
            </a:r>
            <a:r>
              <a:rPr lang="ko-KR" altLang="en-US" sz="36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사원관리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99808" y="2410059"/>
            <a:ext cx="3204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사원 </a:t>
            </a:r>
            <a:r>
              <a:rPr lang="en-US" altLang="ko-KR" sz="2400" dirty="0">
                <a:latin typeface="+mj-ea"/>
                <a:ea typeface="+mj-ea"/>
              </a:rPr>
              <a:t>/</a:t>
            </a:r>
            <a:r>
              <a:rPr lang="ko-KR" altLang="en-US" sz="2400" dirty="0">
                <a:latin typeface="+mj-ea"/>
                <a:ea typeface="+mj-ea"/>
              </a:rPr>
              <a:t> 계정 정보 수정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990" y="3263956"/>
            <a:ext cx="9636797" cy="53878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10387816" y="4309509"/>
            <a:ext cx="838900" cy="8679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5"/>
          <a:srcRect l="62973" t="55208" r="21332" b="10224"/>
          <a:stretch/>
        </p:blipFill>
        <p:spPr>
          <a:xfrm>
            <a:off x="7659743" y="8021232"/>
            <a:ext cx="1853026" cy="172254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777924" y="8294224"/>
            <a:ext cx="1087897" cy="8627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3672" y="6426881"/>
            <a:ext cx="6639052" cy="11654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39" name="그룹 38"/>
          <p:cNvGrpSpPr/>
          <p:nvPr/>
        </p:nvGrpSpPr>
        <p:grpSpPr>
          <a:xfrm>
            <a:off x="9865821" y="5776782"/>
            <a:ext cx="5593504" cy="602416"/>
            <a:chOff x="6052395" y="1624789"/>
            <a:chExt cx="6420827" cy="2697813"/>
          </a:xfrm>
        </p:grpSpPr>
        <p:pic>
          <p:nvPicPr>
            <p:cNvPr id="40" name="Object 33"/>
            <p:cNvPicPr>
              <a:picLocks noChangeAspect="1"/>
            </p:cNvPicPr>
            <p:nvPr/>
          </p:nvPicPr>
          <p:blipFill rotWithShape="1">
            <a:blip r:embed="rId7" cstate="print"/>
            <a:srcRect r="12335"/>
            <a:stretch/>
          </p:blipFill>
          <p:spPr>
            <a:xfrm>
              <a:off x="6052395" y="1624789"/>
              <a:ext cx="6420827" cy="2697813"/>
            </a:xfrm>
            <a:prstGeom prst="rect">
              <a:avLst/>
            </a:prstGeom>
          </p:spPr>
        </p:pic>
      </p:grpSp>
      <p:sp>
        <p:nvSpPr>
          <p:cNvPr id="41" name="TextBox 40"/>
          <p:cNvSpPr txBox="1"/>
          <p:nvPr/>
        </p:nvSpPr>
        <p:spPr>
          <a:xfrm>
            <a:off x="10121930" y="5816020"/>
            <a:ext cx="543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사진 업로드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업로드 교체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삭제 지원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9865821" y="5776781"/>
            <a:ext cx="256109" cy="58246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396F0C-F628-1451-C518-B36378633AF0}"/>
              </a:ext>
            </a:extLst>
          </p:cNvPr>
          <p:cNvSpPr/>
          <p:nvPr/>
        </p:nvSpPr>
        <p:spPr>
          <a:xfrm>
            <a:off x="11650423" y="3829565"/>
            <a:ext cx="325593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>
                <a:solidFill>
                  <a:srgbClr val="8E8791"/>
                </a:solidFill>
              </a:rPr>
              <a:t> </a:t>
            </a:r>
            <a:r>
              <a:rPr lang="ko-KR" altLang="en-US" sz="2200" b="1" dirty="0" smtClean="0">
                <a:solidFill>
                  <a:srgbClr val="8E8791"/>
                </a:solidFill>
              </a:rPr>
              <a:t>      담당 </a:t>
            </a:r>
            <a:r>
              <a:rPr lang="ko-KR" altLang="en-US" sz="2200" b="1" dirty="0">
                <a:solidFill>
                  <a:srgbClr val="8E8791"/>
                </a:solidFill>
              </a:rPr>
              <a:t>부서 검색 </a:t>
            </a:r>
            <a:r>
              <a:rPr lang="ko-KR" altLang="en-US" sz="2200" b="1" dirty="0" err="1">
                <a:solidFill>
                  <a:srgbClr val="8E8791"/>
                </a:solidFill>
              </a:rPr>
              <a:t>모달</a:t>
            </a:r>
            <a:r>
              <a:rPr lang="ko-KR" altLang="en-US" sz="2200" b="1" dirty="0">
                <a:solidFill>
                  <a:srgbClr val="8E8791"/>
                </a:solidFill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D501590-1209-91BD-F6A4-0B3F46B160B5}"/>
              </a:ext>
            </a:extLst>
          </p:cNvPr>
          <p:cNvGrpSpPr/>
          <p:nvPr/>
        </p:nvGrpSpPr>
        <p:grpSpPr>
          <a:xfrm>
            <a:off x="11109888" y="3687938"/>
            <a:ext cx="1006829" cy="1006829"/>
            <a:chOff x="12948672" y="1937938"/>
            <a:chExt cx="1006829" cy="1006829"/>
          </a:xfrm>
        </p:grpSpPr>
        <p:pic>
          <p:nvPicPr>
            <p:cNvPr id="7" name="Picture 10" descr="C:\Users\user\Downloads\free-icon-laptop-6611269.png">
              <a:extLst>
                <a:ext uri="{FF2B5EF4-FFF2-40B4-BE49-F238E27FC236}">
                  <a16:creationId xmlns:a16="http://schemas.microsoft.com/office/drawing/2014/main" id="{15897F96-6EEC-EF1B-7802-D8897DA387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CF300F-E15C-EF61-DBD3-BD7C9CAABA27}"/>
                </a:ext>
              </a:extLst>
            </p:cNvPr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4E2ACF-A00E-1470-75EF-FC9BB38B6874}"/>
              </a:ext>
            </a:extLst>
          </p:cNvPr>
          <p:cNvSpPr/>
          <p:nvPr/>
        </p:nvSpPr>
        <p:spPr>
          <a:xfrm>
            <a:off x="10406355" y="7932436"/>
            <a:ext cx="614636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spc="-100" dirty="0">
                <a:solidFill>
                  <a:srgbClr val="8E8791"/>
                </a:solidFill>
              </a:rPr>
              <a:t> 직급 </a:t>
            </a:r>
            <a:r>
              <a:rPr lang="en-US" altLang="ko-KR" sz="2200" b="1" spc="-100" dirty="0">
                <a:solidFill>
                  <a:srgbClr val="8E8791"/>
                </a:solidFill>
              </a:rPr>
              <a:t>/ </a:t>
            </a:r>
            <a:r>
              <a:rPr lang="ko-KR" altLang="en-US" sz="2200" b="1" spc="-100" dirty="0" err="1">
                <a:solidFill>
                  <a:srgbClr val="8E8791"/>
                </a:solidFill>
              </a:rPr>
              <a:t>급여프리셋</a:t>
            </a:r>
            <a:r>
              <a:rPr lang="ko-KR" altLang="en-US" sz="2200" b="1" spc="-100" dirty="0">
                <a:solidFill>
                  <a:srgbClr val="8E8791"/>
                </a:solidFill>
              </a:rPr>
              <a:t> </a:t>
            </a:r>
            <a:r>
              <a:rPr lang="ko-KR" altLang="en-US" sz="2200" b="1" spc="-100" dirty="0" err="1">
                <a:solidFill>
                  <a:srgbClr val="8E8791"/>
                </a:solidFill>
              </a:rPr>
              <a:t>선택시</a:t>
            </a:r>
            <a:r>
              <a:rPr lang="ko-KR" altLang="en-US" sz="2200" b="1" spc="-100" dirty="0">
                <a:solidFill>
                  <a:srgbClr val="8E8791"/>
                </a:solidFill>
              </a:rPr>
              <a:t> 급여 자동 셋팅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EAFE66-7118-7965-7477-96074AF863EB}"/>
              </a:ext>
            </a:extLst>
          </p:cNvPr>
          <p:cNvGrpSpPr/>
          <p:nvPr/>
        </p:nvGrpSpPr>
        <p:grpSpPr>
          <a:xfrm>
            <a:off x="9865821" y="7790809"/>
            <a:ext cx="1006829" cy="1006829"/>
            <a:chOff x="12948672" y="1937938"/>
            <a:chExt cx="1006829" cy="1006829"/>
          </a:xfrm>
        </p:grpSpPr>
        <p:pic>
          <p:nvPicPr>
            <p:cNvPr id="12" name="Picture 10" descr="C:\Users\user\Downloads\free-icon-laptop-6611269.png">
              <a:extLst>
                <a:ext uri="{FF2B5EF4-FFF2-40B4-BE49-F238E27FC236}">
                  <a16:creationId xmlns:a16="http://schemas.microsoft.com/office/drawing/2014/main" id="{42DD8642-D230-563E-AFD1-73D611D8F3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65F708-1030-8960-B6E8-EBCA143EC284}"/>
                </a:ext>
              </a:extLst>
            </p:cNvPr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135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420187" y="2229654"/>
            <a:ext cx="435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인사관리 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| </a:t>
            </a:r>
            <a:r>
              <a:rPr lang="ko-KR" altLang="en-US" sz="36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사원관리</a:t>
            </a: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99808" y="2410059"/>
            <a:ext cx="3204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j-ea"/>
              </a:rPr>
              <a:t>사원 </a:t>
            </a:r>
            <a:r>
              <a:rPr lang="en-US" altLang="ko-KR" sz="2400" dirty="0">
                <a:latin typeface="+mj-ea"/>
              </a:rPr>
              <a:t>/ </a:t>
            </a:r>
            <a:r>
              <a:rPr lang="ko-KR" altLang="en-US" sz="2400" dirty="0">
                <a:latin typeface="+mj-ea"/>
              </a:rPr>
              <a:t>계정 정보 수정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120404" y="3511829"/>
            <a:ext cx="12360711" cy="5265090"/>
            <a:chOff x="1120404" y="3617417"/>
            <a:chExt cx="12360711" cy="4619231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 rotWithShape="1">
            <a:blip r:embed="rId4"/>
            <a:srcRect b="84056"/>
            <a:stretch/>
          </p:blipFill>
          <p:spPr>
            <a:xfrm>
              <a:off x="1173748" y="3617417"/>
              <a:ext cx="12307367" cy="676791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0404" y="4296767"/>
              <a:ext cx="12360711" cy="3939881"/>
            </a:xfrm>
            <a:prstGeom prst="rect">
              <a:avLst/>
            </a:prstGeom>
          </p:spPr>
        </p:pic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3581400" y="7086600"/>
            <a:ext cx="3581400" cy="33277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8793665" y="5864129"/>
            <a:ext cx="1449304" cy="5127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rcRect t="2873"/>
          <a:stretch/>
        </p:blipFill>
        <p:spPr>
          <a:xfrm>
            <a:off x="7300759" y="7419372"/>
            <a:ext cx="7971211" cy="155346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36" name="그룹 35"/>
          <p:cNvGrpSpPr/>
          <p:nvPr/>
        </p:nvGrpSpPr>
        <p:grpSpPr>
          <a:xfrm>
            <a:off x="7320130" y="6755737"/>
            <a:ext cx="7951840" cy="602416"/>
            <a:chOff x="6052395" y="1624789"/>
            <a:chExt cx="6420827" cy="2697813"/>
          </a:xfrm>
        </p:grpSpPr>
        <p:pic>
          <p:nvPicPr>
            <p:cNvPr id="39" name="Object 33"/>
            <p:cNvPicPr>
              <a:picLocks noChangeAspect="1"/>
            </p:cNvPicPr>
            <p:nvPr/>
          </p:nvPicPr>
          <p:blipFill rotWithShape="1">
            <a:blip r:embed="rId7" cstate="print"/>
            <a:srcRect r="12335"/>
            <a:stretch/>
          </p:blipFill>
          <p:spPr>
            <a:xfrm>
              <a:off x="6052395" y="1624789"/>
              <a:ext cx="6420827" cy="2697813"/>
            </a:xfrm>
            <a:prstGeom prst="rect">
              <a:avLst/>
            </a:prstGeom>
          </p:spPr>
        </p:pic>
      </p:grpSp>
      <p:sp>
        <p:nvSpPr>
          <p:cNvPr id="40" name="TextBox 39"/>
          <p:cNvSpPr txBox="1"/>
          <p:nvPr/>
        </p:nvSpPr>
        <p:spPr>
          <a:xfrm>
            <a:off x="7576240" y="6794975"/>
            <a:ext cx="4947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권한 관리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업무별 권한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DB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연동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7320131" y="6755736"/>
            <a:ext cx="256109" cy="58246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F9EDC9-21E2-ADE2-7E0A-1A5D461FF0ED}"/>
              </a:ext>
            </a:extLst>
          </p:cNvPr>
          <p:cNvGrpSpPr/>
          <p:nvPr/>
        </p:nvGrpSpPr>
        <p:grpSpPr>
          <a:xfrm>
            <a:off x="10152125" y="5230957"/>
            <a:ext cx="6235905" cy="1006829"/>
            <a:chOff x="7269859" y="2437578"/>
            <a:chExt cx="6235905" cy="100682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2594294-5923-D638-EA05-35F2019CF077}"/>
                </a:ext>
              </a:extLst>
            </p:cNvPr>
            <p:cNvSpPr/>
            <p:nvPr/>
          </p:nvSpPr>
          <p:spPr>
            <a:xfrm>
              <a:off x="7810393" y="2579205"/>
              <a:ext cx="5695371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내부</a:t>
              </a:r>
              <a:r>
                <a:rPr lang="en-US" altLang="ko-KR" sz="2200" b="1" dirty="0">
                  <a:solidFill>
                    <a:srgbClr val="8E8791"/>
                  </a:solidFill>
                </a:rPr>
                <a:t>/</a:t>
              </a:r>
              <a:r>
                <a:rPr lang="ko-KR" altLang="en-US" sz="2200" b="1" dirty="0">
                  <a:solidFill>
                    <a:srgbClr val="8E8791"/>
                  </a:solidFill>
                </a:rPr>
                <a:t>외부 계정 관리자 전용 승인 처리</a:t>
              </a:r>
              <a:endParaRPr lang="ko-KR" altLang="en-US" sz="2200" b="1" spc="-100" dirty="0">
                <a:solidFill>
                  <a:srgbClr val="8E879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F15EBEA-05F0-2925-557B-E5B89322C76D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8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FAE760B0-FD48-78C8-F577-E0D7A2E305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0D8065-7B12-A952-8868-C2A552526360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01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377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617" y="1049867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3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420187" y="2229654"/>
            <a:ext cx="3897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게시판 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| 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공지사항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641" y="3573861"/>
            <a:ext cx="10246170" cy="543353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11105165" y="2933426"/>
            <a:ext cx="851483" cy="7235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390" y="6438132"/>
            <a:ext cx="9630136" cy="119219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36" name="그룹 35"/>
          <p:cNvGrpSpPr/>
          <p:nvPr/>
        </p:nvGrpSpPr>
        <p:grpSpPr>
          <a:xfrm>
            <a:off x="7105390" y="5747071"/>
            <a:ext cx="9630136" cy="602416"/>
            <a:chOff x="6052395" y="1624789"/>
            <a:chExt cx="6420827" cy="2697813"/>
          </a:xfrm>
        </p:grpSpPr>
        <p:pic>
          <p:nvPicPr>
            <p:cNvPr id="39" name="Object 33"/>
            <p:cNvPicPr>
              <a:picLocks noChangeAspect="1"/>
            </p:cNvPicPr>
            <p:nvPr/>
          </p:nvPicPr>
          <p:blipFill rotWithShape="1">
            <a:blip r:embed="rId6" cstate="print"/>
            <a:srcRect r="12335"/>
            <a:stretch/>
          </p:blipFill>
          <p:spPr>
            <a:xfrm>
              <a:off x="6052395" y="1624789"/>
              <a:ext cx="6420827" cy="2697813"/>
            </a:xfrm>
            <a:prstGeom prst="rect">
              <a:avLst/>
            </a:prstGeom>
          </p:spPr>
        </p:pic>
      </p:grpSp>
      <p:sp>
        <p:nvSpPr>
          <p:cNvPr id="45" name="TextBox 44"/>
          <p:cNvSpPr txBox="1"/>
          <p:nvPr/>
        </p:nvSpPr>
        <p:spPr>
          <a:xfrm>
            <a:off x="7361499" y="5786309"/>
            <a:ext cx="9190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접근 제어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업무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관리자별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권한 부여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(Spring Security)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105390" y="5747070"/>
            <a:ext cx="256109" cy="58246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E74463D-8840-2174-CF7E-9E963CA3E51C}"/>
              </a:ext>
            </a:extLst>
          </p:cNvPr>
          <p:cNvGrpSpPr/>
          <p:nvPr/>
        </p:nvGrpSpPr>
        <p:grpSpPr>
          <a:xfrm>
            <a:off x="11672592" y="2317115"/>
            <a:ext cx="4875163" cy="1006829"/>
            <a:chOff x="7269859" y="2437578"/>
            <a:chExt cx="4875163" cy="1006829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01AB3F-3ABA-39E6-32FA-5BE4A8F38F4A}"/>
                </a:ext>
              </a:extLst>
            </p:cNvPr>
            <p:cNvSpPr/>
            <p:nvPr/>
          </p:nvSpPr>
          <p:spPr>
            <a:xfrm>
              <a:off x="7810393" y="2579205"/>
              <a:ext cx="4334629" cy="717550"/>
            </a:xfrm>
            <a:prstGeom prst="rect">
              <a:avLst/>
            </a:prstGeom>
            <a:solidFill>
              <a:srgbClr val="EFEFEF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200" b="1" dirty="0">
                  <a:solidFill>
                    <a:srgbClr val="8E8791"/>
                  </a:solidFill>
                </a:rPr>
                <a:t> 관리자 권한 정보 등록 처리</a:t>
              </a:r>
              <a:endParaRPr lang="ko-KR" altLang="en-US" sz="2200" b="1" spc="-100" dirty="0">
                <a:solidFill>
                  <a:srgbClr val="8E8791"/>
                </a:solidFill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DC7111C-6814-B978-C459-4CF569B16DD0}"/>
                </a:ext>
              </a:extLst>
            </p:cNvPr>
            <p:cNvGrpSpPr/>
            <p:nvPr/>
          </p:nvGrpSpPr>
          <p:grpSpPr>
            <a:xfrm>
              <a:off x="7269859" y="2437578"/>
              <a:ext cx="1006829" cy="1006829"/>
              <a:chOff x="12948672" y="1937938"/>
              <a:chExt cx="1006829" cy="1006829"/>
            </a:xfrm>
          </p:grpSpPr>
          <p:pic>
            <p:nvPicPr>
              <p:cNvPr id="7" name="Picture 10" descr="C:\Users\user\Downloads\free-icon-laptop-6611269.png">
                <a:extLst>
                  <a:ext uri="{FF2B5EF4-FFF2-40B4-BE49-F238E27FC236}">
                    <a16:creationId xmlns:a16="http://schemas.microsoft.com/office/drawing/2014/main" id="{786EDCD6-C9D9-0A1D-79CE-CF6E6C29BF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48672" y="1937938"/>
                <a:ext cx="1006829" cy="100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B41760-D067-87D5-F380-01FE568FBC93}"/>
                  </a:ext>
                </a:extLst>
              </p:cNvPr>
              <p:cNvSpPr txBox="1"/>
              <p:nvPr/>
            </p:nvSpPr>
            <p:spPr>
              <a:xfrm>
                <a:off x="13157209" y="2043838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latin typeface="HY견고딕" pitchFamily="18" charset="-127"/>
                    <a:ea typeface="HY견고딕" pitchFamily="18" charset="-127"/>
                  </a:rPr>
                  <a:t>01</a:t>
                </a:r>
                <a:endParaRPr lang="ko-KR" altLang="en-US" sz="2400" b="1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37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2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023"/>
          <a:stretch/>
        </p:blipFill>
        <p:spPr bwMode="auto">
          <a:xfrm>
            <a:off x="1131765" y="3413363"/>
            <a:ext cx="2094730" cy="5713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740"/>
          <a:stretch/>
        </p:blipFill>
        <p:spPr bwMode="auto">
          <a:xfrm>
            <a:off x="8781415" y="3341914"/>
            <a:ext cx="1440332" cy="578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38"/>
          <a:stretch/>
        </p:blipFill>
        <p:spPr bwMode="auto">
          <a:xfrm>
            <a:off x="4955140" y="3354935"/>
            <a:ext cx="2295410" cy="5772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527473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err="1">
                <a:solidFill>
                  <a:srgbClr val="8E8791"/>
                </a:solidFill>
              </a:rPr>
              <a:t>사이드바</a:t>
            </a:r>
            <a:r>
              <a:rPr lang="ko-KR" altLang="en-US" sz="2200" b="1" dirty="0">
                <a:solidFill>
                  <a:srgbClr val="8E8791"/>
                </a:solidFill>
              </a:rPr>
              <a:t> 축소</a:t>
            </a:r>
            <a:r>
              <a:rPr lang="en-US" altLang="ko-KR" sz="2200" b="1" dirty="0">
                <a:solidFill>
                  <a:srgbClr val="8E8791"/>
                </a:solidFill>
              </a:rPr>
              <a:t>/</a:t>
            </a:r>
            <a:r>
              <a:rPr lang="ko-KR" altLang="en-US" sz="2200" b="1" dirty="0">
                <a:solidFill>
                  <a:srgbClr val="8E8791"/>
                </a:solidFill>
              </a:rPr>
              <a:t>확대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3677150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상위항목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9398000" y="5630304"/>
            <a:ext cx="3622979" cy="58921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6223000" y="4032719"/>
            <a:ext cx="6797979" cy="3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2438400" y="2435134"/>
            <a:ext cx="10582579" cy="116344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773958" y="2867165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로고 </a:t>
            </a:r>
            <a:r>
              <a:rPr lang="ko-KR" altLang="en-US" b="1" dirty="0" err="1">
                <a:solidFill>
                  <a:srgbClr val="8E8791"/>
                </a:solidFill>
              </a:rPr>
              <a:t>선택시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r>
              <a:rPr lang="ko-KR" altLang="en-US" b="1" dirty="0" err="1">
                <a:solidFill>
                  <a:srgbClr val="8E8791"/>
                </a:solidFill>
              </a:rPr>
              <a:t>메인페이지</a:t>
            </a:r>
            <a:r>
              <a:rPr lang="ko-KR" altLang="en-US" b="1" dirty="0">
                <a:solidFill>
                  <a:srgbClr val="8E8791"/>
                </a:solidFill>
              </a:rPr>
              <a:t> 이동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774743" y="4466857"/>
            <a:ext cx="2137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상위 항목 </a:t>
            </a:r>
            <a:r>
              <a:rPr lang="ko-KR" altLang="en-US" b="1" dirty="0" err="1">
                <a:solidFill>
                  <a:srgbClr val="8E8791"/>
                </a:solidFill>
              </a:rPr>
              <a:t>선택시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하위 항목 </a:t>
            </a:r>
            <a:r>
              <a:rPr lang="ko-KR" altLang="en-US" b="1" dirty="0" err="1">
                <a:solidFill>
                  <a:srgbClr val="8E8791"/>
                </a:solidFill>
              </a:rPr>
              <a:t>드롭다운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775528" y="6066549"/>
            <a:ext cx="2829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항목 아이콘화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 err="1">
                <a:solidFill>
                  <a:srgbClr val="8E8791"/>
                </a:solidFill>
              </a:rPr>
              <a:t>선택시</a:t>
            </a:r>
            <a:r>
              <a:rPr lang="ko-KR" altLang="en-US" b="1" dirty="0">
                <a:solidFill>
                  <a:srgbClr val="8E8791"/>
                </a:solidFill>
              </a:rPr>
              <a:t> 대표페이지로 이동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9144000" y="2435134"/>
            <a:ext cx="3876979" cy="101926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1349538" y="2616808"/>
            <a:ext cx="403187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메인페이지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사이드바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20795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로고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12948672" y="1937938"/>
            <a:ext cx="1006829" cy="1006829"/>
            <a:chOff x="12948672" y="1937938"/>
            <a:chExt cx="1006829" cy="1006829"/>
          </a:xfrm>
        </p:grpSpPr>
        <p:pic>
          <p:nvPicPr>
            <p:cNvPr id="103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12935281" y="3532510"/>
            <a:ext cx="1006829" cy="1006829"/>
            <a:chOff x="12948672" y="1937938"/>
            <a:chExt cx="1006829" cy="1006829"/>
          </a:xfrm>
        </p:grpSpPr>
        <p:pic>
          <p:nvPicPr>
            <p:cNvPr id="6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12948672" y="5130095"/>
            <a:ext cx="1006829" cy="1006829"/>
            <a:chOff x="12948672" y="1937938"/>
            <a:chExt cx="1006829" cy="1006829"/>
          </a:xfrm>
        </p:grpSpPr>
        <p:pic>
          <p:nvPicPr>
            <p:cNvPr id="67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893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B79BD1BC-A8BB-9D99-38D5-8D5F1E587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41" y="3408680"/>
            <a:ext cx="11232039" cy="574071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3664D885-AF03-556D-25B2-3D96BFBCA46E}"/>
              </a:ext>
            </a:extLst>
          </p:cNvPr>
          <p:cNvSpPr/>
          <p:nvPr/>
        </p:nvSpPr>
        <p:spPr>
          <a:xfrm>
            <a:off x="13086101" y="4032637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등록 버튼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4BDF2C1-0C39-01EA-D006-4EC9AF11D3BA}"/>
              </a:ext>
            </a:extLst>
          </p:cNvPr>
          <p:cNvCxnSpPr>
            <a:cxnSpLocks/>
          </p:cNvCxnSpPr>
          <p:nvPr/>
        </p:nvCxnSpPr>
        <p:spPr>
          <a:xfrm flipH="1" flipV="1">
            <a:off x="11976214" y="3662411"/>
            <a:ext cx="641660" cy="7257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D9F3579-BB84-61D6-71D8-6DE9D5F06BCA}"/>
              </a:ext>
            </a:extLst>
          </p:cNvPr>
          <p:cNvSpPr/>
          <p:nvPr/>
        </p:nvSpPr>
        <p:spPr>
          <a:xfrm>
            <a:off x="13086101" y="5978682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수정 버튼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FCC67D82-2E1E-BB41-CAA4-CE4E3FF9EE73}"/>
              </a:ext>
            </a:extLst>
          </p:cNvPr>
          <p:cNvCxnSpPr>
            <a:cxnSpLocks/>
          </p:cNvCxnSpPr>
          <p:nvPr/>
        </p:nvCxnSpPr>
        <p:spPr>
          <a:xfrm flipH="1" flipV="1">
            <a:off x="11722102" y="5969001"/>
            <a:ext cx="895772" cy="36525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A87BFDA-B145-1CCC-3953-73C65720E8D9}"/>
              </a:ext>
            </a:extLst>
          </p:cNvPr>
          <p:cNvSpPr/>
          <p:nvPr/>
        </p:nvSpPr>
        <p:spPr>
          <a:xfrm>
            <a:off x="13086101" y="7924726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행 클릭 시 상세보기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0FA3576-00DD-6A62-3D7E-2C39A4996FB6}"/>
              </a:ext>
            </a:extLst>
          </p:cNvPr>
          <p:cNvCxnSpPr>
            <a:cxnSpLocks/>
          </p:cNvCxnSpPr>
          <p:nvPr/>
        </p:nvCxnSpPr>
        <p:spPr>
          <a:xfrm flipH="1" flipV="1">
            <a:off x="4864100" y="7846157"/>
            <a:ext cx="7753774" cy="43413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99845B7-FEE7-9B80-59E8-168712B3DB08}"/>
              </a:ext>
            </a:extLst>
          </p:cNvPr>
          <p:cNvSpPr/>
          <p:nvPr/>
        </p:nvSpPr>
        <p:spPr>
          <a:xfrm>
            <a:off x="13091675" y="2086592"/>
            <a:ext cx="359205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검색필터 설정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373C927-D465-48FA-7D36-C49A033BE910}"/>
              </a:ext>
            </a:extLst>
          </p:cNvPr>
          <p:cNvCxnSpPr>
            <a:cxnSpLocks/>
          </p:cNvCxnSpPr>
          <p:nvPr/>
        </p:nvCxnSpPr>
        <p:spPr>
          <a:xfrm flipH="1">
            <a:off x="9613900" y="2749143"/>
            <a:ext cx="3137125" cy="122494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 목록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12549594" y="1956227"/>
            <a:ext cx="1006829" cy="1006829"/>
            <a:chOff x="12948672" y="1937938"/>
            <a:chExt cx="1006829" cy="1006829"/>
          </a:xfrm>
        </p:grpSpPr>
        <p:pic>
          <p:nvPicPr>
            <p:cNvPr id="2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12554061" y="3901673"/>
            <a:ext cx="1006829" cy="1006829"/>
            <a:chOff x="12948672" y="1937938"/>
            <a:chExt cx="1006829" cy="1006829"/>
          </a:xfrm>
        </p:grpSpPr>
        <p:pic>
          <p:nvPicPr>
            <p:cNvPr id="37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12535719" y="5859570"/>
            <a:ext cx="1006829" cy="1006829"/>
            <a:chOff x="12948672" y="1937938"/>
            <a:chExt cx="1006829" cy="1006829"/>
          </a:xfrm>
        </p:grpSpPr>
        <p:pic>
          <p:nvPicPr>
            <p:cNvPr id="4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2554061" y="7760709"/>
            <a:ext cx="1006829" cy="1006829"/>
            <a:chOff x="12948672" y="1937938"/>
            <a:chExt cx="1006829" cy="1006829"/>
          </a:xfrm>
        </p:grpSpPr>
        <p:pic>
          <p:nvPicPr>
            <p:cNvPr id="5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DCBEB10-622E-59A4-7DCE-416167F1F8F0}"/>
              </a:ext>
            </a:extLst>
          </p:cNvPr>
          <p:cNvSpPr txBox="1"/>
          <p:nvPr/>
        </p:nvSpPr>
        <p:spPr>
          <a:xfrm>
            <a:off x="13388406" y="2938999"/>
            <a:ext cx="2829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종류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 err="1">
                <a:solidFill>
                  <a:srgbClr val="8E8791"/>
                </a:solidFill>
              </a:rPr>
              <a:t>부품명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등록기간의</a:t>
            </a:r>
            <a:r>
              <a:rPr lang="en-US" altLang="ko-KR" b="1" dirty="0">
                <a:solidFill>
                  <a:srgbClr val="8E8791"/>
                </a:solidFill>
              </a:rPr>
              <a:t/>
            </a:r>
            <a:br>
              <a:rPr lang="en-US" altLang="ko-KR" b="1" dirty="0">
                <a:solidFill>
                  <a:srgbClr val="8E8791"/>
                </a:solidFill>
              </a:rPr>
            </a:br>
            <a:r>
              <a:rPr lang="ko-KR" altLang="en-US" b="1" dirty="0">
                <a:solidFill>
                  <a:srgbClr val="8E8791"/>
                </a:solidFill>
              </a:rPr>
              <a:t>단위기능별 검색필터 적용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3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392C-7CF8-166E-6295-0360E8FF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DA46394-EB13-A260-52DF-1182781ADD30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3D59A432-E8CA-6731-4EAE-E4BAAAFB5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B4344C-E4A3-5731-A3CE-DA34363F8AA7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528F22A-D2FC-F944-2BB9-6DC864122210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992DD2-C327-042E-6190-40A114F53CAD}"/>
              </a:ext>
            </a:extLst>
          </p:cNvPr>
          <p:cNvSpPr/>
          <p:nvPr/>
        </p:nvSpPr>
        <p:spPr>
          <a:xfrm>
            <a:off x="13905131" y="2805532"/>
            <a:ext cx="2576477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목록 버튼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491CCB-9DC5-33D3-80F7-8EB22F499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54" y="3861582"/>
            <a:ext cx="11941615" cy="5331079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3FD3C81-A19A-DF73-126E-496E66E57E05}"/>
              </a:ext>
            </a:extLst>
          </p:cNvPr>
          <p:cNvCxnSpPr>
            <a:cxnSpLocks/>
          </p:cNvCxnSpPr>
          <p:nvPr/>
        </p:nvCxnSpPr>
        <p:spPr>
          <a:xfrm flipH="1">
            <a:off x="1638300" y="3161101"/>
            <a:ext cx="11798604" cy="83939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03DBC90-75C9-5D95-0A2F-E35B4A268C31}"/>
              </a:ext>
            </a:extLst>
          </p:cNvPr>
          <p:cNvSpPr/>
          <p:nvPr/>
        </p:nvSpPr>
        <p:spPr>
          <a:xfrm>
            <a:off x="13905131" y="4339198"/>
            <a:ext cx="2576477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초기화 버튼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1B54AA1-1DC1-BC29-624B-F3394114D27C}"/>
              </a:ext>
            </a:extLst>
          </p:cNvPr>
          <p:cNvCxnSpPr>
            <a:cxnSpLocks/>
          </p:cNvCxnSpPr>
          <p:nvPr/>
        </p:nvCxnSpPr>
        <p:spPr>
          <a:xfrm flipH="1">
            <a:off x="4292600" y="4694767"/>
            <a:ext cx="9144304" cy="395393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6D40C5-BCED-DD4D-20B6-8071B48EDEAE}"/>
              </a:ext>
            </a:extLst>
          </p:cNvPr>
          <p:cNvSpPr/>
          <p:nvPr/>
        </p:nvSpPr>
        <p:spPr>
          <a:xfrm>
            <a:off x="13887765" y="5819787"/>
            <a:ext cx="2576477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등록 버튼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FE013CE-DBA4-93DB-845B-5F9972019057}"/>
              </a:ext>
            </a:extLst>
          </p:cNvPr>
          <p:cNvCxnSpPr>
            <a:cxnSpLocks/>
          </p:cNvCxnSpPr>
          <p:nvPr/>
        </p:nvCxnSpPr>
        <p:spPr>
          <a:xfrm flipH="1">
            <a:off x="10007600" y="6175356"/>
            <a:ext cx="3411938" cy="247334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349538" y="2616808"/>
            <a:ext cx="452559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신규 부품 등록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13355322" y="2657686"/>
            <a:ext cx="1006829" cy="1006829"/>
            <a:chOff x="12948672" y="1937938"/>
            <a:chExt cx="1006829" cy="1006829"/>
          </a:xfrm>
        </p:grpSpPr>
        <p:pic>
          <p:nvPicPr>
            <p:cNvPr id="3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13359789" y="4196740"/>
            <a:ext cx="1006829" cy="1006829"/>
            <a:chOff x="12948672" y="1937938"/>
            <a:chExt cx="1006829" cy="1006829"/>
          </a:xfrm>
        </p:grpSpPr>
        <p:pic>
          <p:nvPicPr>
            <p:cNvPr id="3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3341447" y="5675675"/>
            <a:ext cx="1006829" cy="1006829"/>
            <a:chOff x="12948672" y="1937938"/>
            <a:chExt cx="1006829" cy="1006829"/>
          </a:xfrm>
        </p:grpSpPr>
        <p:pic>
          <p:nvPicPr>
            <p:cNvPr id="3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CE3B5F-051A-F034-4921-8B393788C552}"/>
              </a:ext>
            </a:extLst>
          </p:cNvPr>
          <p:cNvSpPr txBox="1"/>
          <p:nvPr/>
        </p:nvSpPr>
        <p:spPr>
          <a:xfrm>
            <a:off x="13865926" y="3599399"/>
            <a:ext cx="2829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종류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 err="1">
                <a:solidFill>
                  <a:srgbClr val="8E8791"/>
                </a:solidFill>
              </a:rPr>
              <a:t>부품명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등록기간의</a:t>
            </a:r>
            <a:r>
              <a:rPr lang="en-US" altLang="ko-KR" b="1" dirty="0">
                <a:solidFill>
                  <a:srgbClr val="8E8791"/>
                </a:solidFill>
              </a:rPr>
              <a:t/>
            </a:r>
            <a:br>
              <a:rPr lang="en-US" altLang="ko-KR" b="1" dirty="0">
                <a:solidFill>
                  <a:srgbClr val="8E8791"/>
                </a:solidFill>
              </a:rPr>
            </a:br>
            <a:r>
              <a:rPr lang="ko-KR" altLang="en-US" b="1" dirty="0">
                <a:solidFill>
                  <a:srgbClr val="8E8791"/>
                </a:solidFill>
              </a:rPr>
              <a:t>단위기능별 검색필터 적용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37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6FD13-3C78-6B4D-8B77-01041C7E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5B547A32-1663-780D-B665-D6AF157A3E93}"/>
              </a:ext>
            </a:extLst>
          </p:cNvPr>
          <p:cNvGrpSpPr/>
          <p:nvPr/>
        </p:nvGrpSpPr>
        <p:grpSpPr>
          <a:xfrm>
            <a:off x="-317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B9B349F2-CA05-8C7B-54A9-CEE9E005B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B2C29E-001C-6057-2325-DCEEF31B3BE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AB82FF3-CB73-F8A9-9D50-5AD3E803BA2B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06CA1E67-3FDF-E79E-77CE-4306DF4D1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98" y="3632423"/>
            <a:ext cx="11122562" cy="5516538"/>
          </a:xfrm>
          <a:prstGeom prst="rect">
            <a:avLst/>
          </a:prstGeom>
        </p:spPr>
      </p:pic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1A4E5E5-CDD4-CAB0-C5EA-C78D3AC42412}"/>
              </a:ext>
            </a:extLst>
          </p:cNvPr>
          <p:cNvCxnSpPr>
            <a:cxnSpLocks/>
          </p:cNvCxnSpPr>
          <p:nvPr/>
        </p:nvCxnSpPr>
        <p:spPr>
          <a:xfrm flipH="1">
            <a:off x="8666327" y="8280295"/>
            <a:ext cx="3951547" cy="36198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321C6DE0-82EE-C079-8C1C-3325B43619D8}"/>
              </a:ext>
            </a:extLst>
          </p:cNvPr>
          <p:cNvCxnSpPr>
            <a:cxnSpLocks/>
          </p:cNvCxnSpPr>
          <p:nvPr/>
        </p:nvCxnSpPr>
        <p:spPr>
          <a:xfrm flipH="1" flipV="1">
            <a:off x="4533900" y="4584700"/>
            <a:ext cx="8083974" cy="59937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 수정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3FD3C81-A19A-DF73-126E-496E66E57E05}"/>
              </a:ext>
            </a:extLst>
          </p:cNvPr>
          <p:cNvCxnSpPr>
            <a:cxnSpLocks/>
          </p:cNvCxnSpPr>
          <p:nvPr/>
        </p:nvCxnSpPr>
        <p:spPr>
          <a:xfrm flipH="1">
            <a:off x="1485900" y="3635961"/>
            <a:ext cx="11137548" cy="9783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664D885-AF03-556D-25B2-3D96BFBCA46E}"/>
              </a:ext>
            </a:extLst>
          </p:cNvPr>
          <p:cNvSpPr/>
          <p:nvPr/>
        </p:nvSpPr>
        <p:spPr>
          <a:xfrm>
            <a:off x="13086101" y="4828503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이미지 파일삭제 버튼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D9F3579-BB84-61D6-71D8-6DE9D5F06BCA}"/>
              </a:ext>
            </a:extLst>
          </p:cNvPr>
          <p:cNvSpPr/>
          <p:nvPr/>
        </p:nvSpPr>
        <p:spPr>
          <a:xfrm>
            <a:off x="13086101" y="6376614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삭제 버튼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A87BFDA-B145-1CCC-3953-73C65720E8D9}"/>
              </a:ext>
            </a:extLst>
          </p:cNvPr>
          <p:cNvSpPr/>
          <p:nvPr/>
        </p:nvSpPr>
        <p:spPr>
          <a:xfrm>
            <a:off x="13086101" y="7924726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수정 클릭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99845B7-FEE7-9B80-59E8-168712B3DB08}"/>
              </a:ext>
            </a:extLst>
          </p:cNvPr>
          <p:cNvSpPr/>
          <p:nvPr/>
        </p:nvSpPr>
        <p:spPr>
          <a:xfrm>
            <a:off x="13091675" y="3280392"/>
            <a:ext cx="359205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목록 버튼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21C6DE0-82EE-C079-8C1C-3325B43619D8}"/>
              </a:ext>
            </a:extLst>
          </p:cNvPr>
          <p:cNvCxnSpPr>
            <a:cxnSpLocks/>
          </p:cNvCxnSpPr>
          <p:nvPr/>
        </p:nvCxnSpPr>
        <p:spPr>
          <a:xfrm flipH="1">
            <a:off x="3073400" y="6732183"/>
            <a:ext cx="9544474" cy="18663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12549594" y="3146375"/>
            <a:ext cx="1006829" cy="1006829"/>
            <a:chOff x="12948672" y="1937938"/>
            <a:chExt cx="1006829" cy="1006829"/>
          </a:xfrm>
        </p:grpSpPr>
        <p:pic>
          <p:nvPicPr>
            <p:cNvPr id="2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12554061" y="4685429"/>
            <a:ext cx="1006829" cy="1006829"/>
            <a:chOff x="12948672" y="1937938"/>
            <a:chExt cx="1006829" cy="1006829"/>
          </a:xfrm>
        </p:grpSpPr>
        <p:pic>
          <p:nvPicPr>
            <p:cNvPr id="3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2535719" y="6236934"/>
            <a:ext cx="1006829" cy="1006829"/>
            <a:chOff x="12948672" y="1937938"/>
            <a:chExt cx="1006829" cy="1006829"/>
          </a:xfrm>
        </p:grpSpPr>
        <p:pic>
          <p:nvPicPr>
            <p:cNvPr id="3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2554061" y="7789737"/>
            <a:ext cx="1006829" cy="1006829"/>
            <a:chOff x="12948672" y="1937938"/>
            <a:chExt cx="1006829" cy="1006829"/>
          </a:xfrm>
        </p:grpSpPr>
        <p:pic>
          <p:nvPicPr>
            <p:cNvPr id="3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00A32F7-A8D4-0CFE-C1B1-C37E3474F173}"/>
              </a:ext>
            </a:extLst>
          </p:cNvPr>
          <p:cNvSpPr txBox="1"/>
          <p:nvPr/>
        </p:nvSpPr>
        <p:spPr>
          <a:xfrm>
            <a:off x="13429390" y="5681041"/>
            <a:ext cx="3340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클릭 시 서버 </a:t>
            </a:r>
            <a:r>
              <a:rPr lang="en-US" altLang="ko-KR" b="1" dirty="0">
                <a:solidFill>
                  <a:srgbClr val="8E8791"/>
                </a:solidFill>
              </a:rPr>
              <a:t>upload </a:t>
            </a:r>
            <a:r>
              <a:rPr lang="ko-KR" altLang="en-US" b="1" dirty="0">
                <a:solidFill>
                  <a:srgbClr val="8E8791"/>
                </a:solidFill>
              </a:rPr>
              <a:t>폴더 및 </a:t>
            </a:r>
            <a:r>
              <a:rPr lang="en-US" altLang="ko-KR" b="1" dirty="0">
                <a:solidFill>
                  <a:srgbClr val="8E8791"/>
                </a:solidFill>
              </a:rPr>
              <a:t>DB</a:t>
            </a:r>
          </a:p>
          <a:p>
            <a:r>
              <a:rPr lang="ko-KR" altLang="en-US" b="1" dirty="0">
                <a:solidFill>
                  <a:srgbClr val="8E8791"/>
                </a:solidFill>
              </a:rPr>
              <a:t>이미지정보 삭제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85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8B86-B4F8-5BD0-E51E-9C5F0253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8E1F13D-FB2D-23D4-A3C0-EA51CC1DC1D0}"/>
              </a:ext>
            </a:extLst>
          </p:cNvPr>
          <p:cNvGrpSpPr/>
          <p:nvPr/>
        </p:nvGrpSpPr>
        <p:grpSpPr>
          <a:xfrm>
            <a:off x="0" y="1016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5B97F2E2-51D5-48E9-5D79-878ED8E9A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DEAAD07-17CF-0C53-9CBA-8E78AC70FE7F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2C034C8-637F-60CE-8B8C-74D9099C7E81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D39579C3-33D6-272E-A9D5-2F6AE8DB9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803" y="3568700"/>
            <a:ext cx="11121395" cy="5390925"/>
          </a:xfrm>
          <a:prstGeom prst="rect">
            <a:avLst/>
          </a:prstGeom>
        </p:spPr>
      </p:pic>
      <p:sp>
        <p:nvSpPr>
          <p:cNvPr id="44" name="직사각형 43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제품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제품 목록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64D885-AF03-556D-25B2-3D96BFBCA46E}"/>
              </a:ext>
            </a:extLst>
          </p:cNvPr>
          <p:cNvSpPr/>
          <p:nvPr/>
        </p:nvSpPr>
        <p:spPr>
          <a:xfrm>
            <a:off x="13086101" y="4032637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등록 버튼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4BDF2C1-0C39-01EA-D006-4EC9AF11D3BA}"/>
              </a:ext>
            </a:extLst>
          </p:cNvPr>
          <p:cNvCxnSpPr>
            <a:cxnSpLocks/>
          </p:cNvCxnSpPr>
          <p:nvPr/>
        </p:nvCxnSpPr>
        <p:spPr>
          <a:xfrm flipH="1" flipV="1">
            <a:off x="11976214" y="3797300"/>
            <a:ext cx="641660" cy="5909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D9F3579-BB84-61D6-71D8-6DE9D5F06BCA}"/>
              </a:ext>
            </a:extLst>
          </p:cNvPr>
          <p:cNvSpPr/>
          <p:nvPr/>
        </p:nvSpPr>
        <p:spPr>
          <a:xfrm>
            <a:off x="13086101" y="5978682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수정 버튼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CC67D82-2E1E-BB41-CAA4-CE4E3FF9EE73}"/>
              </a:ext>
            </a:extLst>
          </p:cNvPr>
          <p:cNvCxnSpPr>
            <a:cxnSpLocks/>
          </p:cNvCxnSpPr>
          <p:nvPr/>
        </p:nvCxnSpPr>
        <p:spPr>
          <a:xfrm flipH="1" flipV="1">
            <a:off x="11722102" y="5969001"/>
            <a:ext cx="895772" cy="36525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A87BFDA-B145-1CCC-3953-73C65720E8D9}"/>
              </a:ext>
            </a:extLst>
          </p:cNvPr>
          <p:cNvSpPr/>
          <p:nvPr/>
        </p:nvSpPr>
        <p:spPr>
          <a:xfrm>
            <a:off x="13091675" y="7924726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행 클릭 시 상세보기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0FA3576-00DD-6A62-3D7E-2C39A4996FB6}"/>
              </a:ext>
            </a:extLst>
          </p:cNvPr>
          <p:cNvCxnSpPr>
            <a:cxnSpLocks/>
          </p:cNvCxnSpPr>
          <p:nvPr/>
        </p:nvCxnSpPr>
        <p:spPr>
          <a:xfrm flipH="1" flipV="1">
            <a:off x="5359400" y="7708900"/>
            <a:ext cx="7258474" cy="5713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99845B7-FEE7-9B80-59E8-168712B3DB08}"/>
              </a:ext>
            </a:extLst>
          </p:cNvPr>
          <p:cNvSpPr/>
          <p:nvPr/>
        </p:nvSpPr>
        <p:spPr>
          <a:xfrm>
            <a:off x="13091675" y="2086592"/>
            <a:ext cx="359205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검색필터 설정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373C927-D465-48FA-7D36-C49A033BE910}"/>
              </a:ext>
            </a:extLst>
          </p:cNvPr>
          <p:cNvCxnSpPr>
            <a:cxnSpLocks/>
          </p:cNvCxnSpPr>
          <p:nvPr/>
        </p:nvCxnSpPr>
        <p:spPr>
          <a:xfrm flipH="1">
            <a:off x="9613900" y="2749143"/>
            <a:ext cx="3137125" cy="128349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12549594" y="1956227"/>
            <a:ext cx="1006829" cy="1006829"/>
            <a:chOff x="12948672" y="1937938"/>
            <a:chExt cx="1006829" cy="1006829"/>
          </a:xfrm>
        </p:grpSpPr>
        <p:pic>
          <p:nvPicPr>
            <p:cNvPr id="2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12554061" y="3901673"/>
            <a:ext cx="1006829" cy="1006829"/>
            <a:chOff x="12948672" y="1937938"/>
            <a:chExt cx="1006829" cy="1006829"/>
          </a:xfrm>
        </p:grpSpPr>
        <p:pic>
          <p:nvPicPr>
            <p:cNvPr id="3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2535719" y="5859570"/>
            <a:ext cx="1006829" cy="1006829"/>
            <a:chOff x="12948672" y="1937938"/>
            <a:chExt cx="1006829" cy="1006829"/>
          </a:xfrm>
        </p:grpSpPr>
        <p:pic>
          <p:nvPicPr>
            <p:cNvPr id="3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2554061" y="7760709"/>
            <a:ext cx="1006829" cy="1006829"/>
            <a:chOff x="12948672" y="1937938"/>
            <a:chExt cx="1006829" cy="1006829"/>
          </a:xfrm>
        </p:grpSpPr>
        <p:pic>
          <p:nvPicPr>
            <p:cNvPr id="3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DEFC53A-A7A7-C64D-56C3-F65B8FBA3F80}"/>
              </a:ext>
            </a:extLst>
          </p:cNvPr>
          <p:cNvSpPr txBox="1"/>
          <p:nvPr/>
        </p:nvSpPr>
        <p:spPr>
          <a:xfrm>
            <a:off x="13364472" y="2928007"/>
            <a:ext cx="3220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종류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제품명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등록기간의</a:t>
            </a:r>
            <a:r>
              <a:rPr lang="en-US" altLang="ko-KR" b="1" dirty="0">
                <a:solidFill>
                  <a:srgbClr val="8E8791"/>
                </a:solidFill>
              </a:rPr>
              <a:t/>
            </a:r>
            <a:br>
              <a:rPr lang="en-US" altLang="ko-KR" b="1" dirty="0">
                <a:solidFill>
                  <a:srgbClr val="8E8791"/>
                </a:solidFill>
              </a:rPr>
            </a:br>
            <a:r>
              <a:rPr lang="ko-KR" altLang="en-US" b="1" dirty="0">
                <a:solidFill>
                  <a:srgbClr val="8E8791"/>
                </a:solidFill>
              </a:rPr>
              <a:t>단위기능별 검색필터 적용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66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80CA-F959-B1FF-B66D-26926EA8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D72EB34-9864-A64E-2433-F1BD95FF4F6F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F6632176-9D19-35D8-7822-73CE1AA14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1A2A3DD-5C74-2507-9BEC-D37386104D15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41C37B-AE80-8AAC-E3AF-1F8AA5D091BD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5BEF5D9F-A4CE-3443-E45D-FB35AFA0A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51" y="3814253"/>
            <a:ext cx="10653889" cy="5271228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BF091B9-4AC1-4642-1F07-BE9E8E490083}"/>
              </a:ext>
            </a:extLst>
          </p:cNvPr>
          <p:cNvCxnSpPr>
            <a:cxnSpLocks/>
          </p:cNvCxnSpPr>
          <p:nvPr/>
        </p:nvCxnSpPr>
        <p:spPr>
          <a:xfrm flipH="1">
            <a:off x="2810617" y="7454795"/>
            <a:ext cx="9159557" cy="74696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1DD3118-A47D-25DD-26BF-6E5A85D3325A}"/>
              </a:ext>
            </a:extLst>
          </p:cNvPr>
          <p:cNvCxnSpPr>
            <a:cxnSpLocks/>
          </p:cNvCxnSpPr>
          <p:nvPr/>
        </p:nvCxnSpPr>
        <p:spPr>
          <a:xfrm flipH="1">
            <a:off x="1587500" y="2810461"/>
            <a:ext cx="10388248" cy="111397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1349538" y="2616808"/>
            <a:ext cx="452559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제품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신규 제품 등록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664D885-AF03-556D-25B2-3D96BFBCA46E}"/>
              </a:ext>
            </a:extLst>
          </p:cNvPr>
          <p:cNvSpPr/>
          <p:nvPr/>
        </p:nvSpPr>
        <p:spPr>
          <a:xfrm>
            <a:off x="12438400" y="4003003"/>
            <a:ext cx="440180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spc="-150" dirty="0">
                <a:solidFill>
                  <a:srgbClr val="8E8791"/>
                </a:solidFill>
              </a:rPr>
              <a:t>AJAX</a:t>
            </a:r>
            <a:r>
              <a:rPr lang="ko-KR" altLang="en-US" sz="2400" b="1" spc="-150" dirty="0">
                <a:solidFill>
                  <a:srgbClr val="8E8791"/>
                </a:solidFill>
              </a:rPr>
              <a:t>활용  </a:t>
            </a:r>
            <a:r>
              <a:rPr lang="en-US" altLang="ko-KR" sz="2400" b="1" spc="-150" dirty="0">
                <a:solidFill>
                  <a:srgbClr val="8E8791"/>
                </a:solidFill>
              </a:rPr>
              <a:t>SELECT BOX </a:t>
            </a:r>
            <a:r>
              <a:rPr lang="ko-KR" altLang="en-US" sz="2400" b="1" spc="-150" dirty="0" err="1">
                <a:solidFill>
                  <a:srgbClr val="8E8791"/>
                </a:solidFill>
              </a:rPr>
              <a:t>필터링</a:t>
            </a:r>
            <a:endParaRPr lang="ko-KR" altLang="en-US" sz="2400" b="1" spc="-150" dirty="0">
              <a:solidFill>
                <a:srgbClr val="8E879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D9F3579-BB84-61D6-71D8-6DE9D5F06BCA}"/>
              </a:ext>
            </a:extLst>
          </p:cNvPr>
          <p:cNvSpPr/>
          <p:nvPr/>
        </p:nvSpPr>
        <p:spPr>
          <a:xfrm>
            <a:off x="12438401" y="5551114"/>
            <a:ext cx="4401798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제품구성 추가 버튼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A87BFDA-B145-1CCC-3953-73C65720E8D9}"/>
              </a:ext>
            </a:extLst>
          </p:cNvPr>
          <p:cNvSpPr/>
          <p:nvPr/>
        </p:nvSpPr>
        <p:spPr>
          <a:xfrm>
            <a:off x="12438400" y="7099226"/>
            <a:ext cx="440179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초기화 버튼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99845B7-FEE7-9B80-59E8-168712B3DB08}"/>
              </a:ext>
            </a:extLst>
          </p:cNvPr>
          <p:cNvSpPr/>
          <p:nvPr/>
        </p:nvSpPr>
        <p:spPr>
          <a:xfrm>
            <a:off x="12443974" y="2454892"/>
            <a:ext cx="4396225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목록 버튼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A87BFDA-B145-1CCC-3953-73C65720E8D9}"/>
              </a:ext>
            </a:extLst>
          </p:cNvPr>
          <p:cNvSpPr/>
          <p:nvPr/>
        </p:nvSpPr>
        <p:spPr>
          <a:xfrm>
            <a:off x="12438401" y="8280326"/>
            <a:ext cx="4401798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등록 버튼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B1DD3118-A47D-25DD-26BF-6E5A85D3325A}"/>
              </a:ext>
            </a:extLst>
          </p:cNvPr>
          <p:cNvCxnSpPr>
            <a:cxnSpLocks/>
          </p:cNvCxnSpPr>
          <p:nvPr/>
        </p:nvCxnSpPr>
        <p:spPr>
          <a:xfrm flipH="1">
            <a:off x="6159500" y="4358572"/>
            <a:ext cx="5810674" cy="274065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1DD3118-A47D-25DD-26BF-6E5A85D3325A}"/>
              </a:ext>
            </a:extLst>
          </p:cNvPr>
          <p:cNvCxnSpPr>
            <a:cxnSpLocks/>
          </p:cNvCxnSpPr>
          <p:nvPr/>
        </p:nvCxnSpPr>
        <p:spPr>
          <a:xfrm flipH="1">
            <a:off x="11188700" y="5906683"/>
            <a:ext cx="781474" cy="67191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BF091B9-4AC1-4642-1F07-BE9E8E490083}"/>
              </a:ext>
            </a:extLst>
          </p:cNvPr>
          <p:cNvCxnSpPr>
            <a:cxnSpLocks/>
          </p:cNvCxnSpPr>
          <p:nvPr/>
        </p:nvCxnSpPr>
        <p:spPr>
          <a:xfrm flipH="1" flipV="1">
            <a:off x="10718800" y="8339349"/>
            <a:ext cx="1251374" cy="29654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/>
          <p:cNvGrpSpPr/>
          <p:nvPr/>
        </p:nvGrpSpPr>
        <p:grpSpPr>
          <a:xfrm>
            <a:off x="11884426" y="2317076"/>
            <a:ext cx="1006829" cy="1006829"/>
            <a:chOff x="12948672" y="1937938"/>
            <a:chExt cx="1006829" cy="1006829"/>
          </a:xfrm>
        </p:grpSpPr>
        <p:pic>
          <p:nvPicPr>
            <p:cNvPr id="3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11888893" y="3873396"/>
            <a:ext cx="1006829" cy="1006829"/>
            <a:chOff x="12948672" y="1937938"/>
            <a:chExt cx="1006829" cy="1006829"/>
          </a:xfrm>
        </p:grpSpPr>
        <p:pic>
          <p:nvPicPr>
            <p:cNvPr id="37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11870551" y="5415202"/>
            <a:ext cx="1006829" cy="1006829"/>
            <a:chOff x="12948672" y="1937938"/>
            <a:chExt cx="1006829" cy="1006829"/>
          </a:xfrm>
        </p:grpSpPr>
        <p:pic>
          <p:nvPicPr>
            <p:cNvPr id="4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1888893" y="6971522"/>
            <a:ext cx="1006829" cy="1006829"/>
            <a:chOff x="12948672" y="1937938"/>
            <a:chExt cx="1006829" cy="1006829"/>
          </a:xfrm>
        </p:grpSpPr>
        <p:pic>
          <p:nvPicPr>
            <p:cNvPr id="4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11888893" y="8145608"/>
            <a:ext cx="1006829" cy="1006829"/>
            <a:chOff x="12948672" y="1937938"/>
            <a:chExt cx="1006829" cy="1006829"/>
          </a:xfrm>
        </p:grpSpPr>
        <p:pic>
          <p:nvPicPr>
            <p:cNvPr id="47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TextBox 47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05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B14B92F-1B18-87BA-A19D-89FE7CDD3D3E}"/>
              </a:ext>
            </a:extLst>
          </p:cNvPr>
          <p:cNvSpPr txBox="1"/>
          <p:nvPr/>
        </p:nvSpPr>
        <p:spPr>
          <a:xfrm>
            <a:off x="12743220" y="6351267"/>
            <a:ext cx="4287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행 추가 및 </a:t>
            </a:r>
            <a:r>
              <a:rPr lang="ko-KR" altLang="en-US" b="1" dirty="0" err="1">
                <a:solidFill>
                  <a:srgbClr val="8E8791"/>
                </a:solidFill>
              </a:rPr>
              <a:t>삭제시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r>
              <a:rPr lang="en-US" altLang="ko-KR" b="1" dirty="0">
                <a:solidFill>
                  <a:srgbClr val="8E8791"/>
                </a:solidFill>
              </a:rPr>
              <a:t>List </a:t>
            </a:r>
            <a:r>
              <a:rPr lang="ko-KR" altLang="en-US" b="1" dirty="0" err="1">
                <a:solidFill>
                  <a:srgbClr val="8E8791"/>
                </a:solidFill>
              </a:rPr>
              <a:t>행번호</a:t>
            </a:r>
            <a:r>
              <a:rPr lang="ko-KR" altLang="en-US" b="1" dirty="0">
                <a:solidFill>
                  <a:srgbClr val="8E8791"/>
                </a:solidFill>
              </a:rPr>
              <a:t> 재조정하여</a:t>
            </a:r>
            <a:r>
              <a:rPr lang="en-US" altLang="ko-KR" b="1" dirty="0">
                <a:solidFill>
                  <a:srgbClr val="8E8791"/>
                </a:solidFill>
              </a:rPr>
              <a:t/>
            </a:r>
            <a:br>
              <a:rPr lang="en-US" altLang="ko-KR" b="1" dirty="0">
                <a:solidFill>
                  <a:srgbClr val="8E8791"/>
                </a:solidFill>
              </a:rPr>
            </a:br>
            <a:r>
              <a:rPr lang="ko-KR" altLang="en-US" b="1" dirty="0">
                <a:solidFill>
                  <a:srgbClr val="8E8791"/>
                </a:solidFill>
              </a:rPr>
              <a:t>오류 방지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61D3D-B79C-F0EC-16B0-67038D288ED3}"/>
              </a:ext>
            </a:extLst>
          </p:cNvPr>
          <p:cNvSpPr txBox="1"/>
          <p:nvPr/>
        </p:nvSpPr>
        <p:spPr>
          <a:xfrm>
            <a:off x="12743220" y="4817107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동일 제품 설정 시 </a:t>
            </a:r>
            <a:r>
              <a:rPr lang="ko-KR" altLang="en-US" b="1" dirty="0" err="1">
                <a:solidFill>
                  <a:srgbClr val="8E8791"/>
                </a:solidFill>
              </a:rPr>
              <a:t>오류메세지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92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CE0-6798-653B-E698-D748BFEA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B5A7630-90B2-C6E4-0BC0-C5E6E368AF10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16E617B1-BACC-4665-C527-0F7F2870C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15F45CC-7B00-26FD-92F2-D343F06467F9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5D1882-1602-C9E0-F017-2AD2DF58D57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5957D088-F833-276F-120C-EB7C161FD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" y="3543001"/>
            <a:ext cx="11132820" cy="5591260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1349538" y="2616808"/>
            <a:ext cx="380745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제품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제품 수정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1A4E5E5-CDD4-CAB0-C5EA-C78D3AC42412}"/>
              </a:ext>
            </a:extLst>
          </p:cNvPr>
          <p:cNvCxnSpPr>
            <a:cxnSpLocks/>
          </p:cNvCxnSpPr>
          <p:nvPr/>
        </p:nvCxnSpPr>
        <p:spPr>
          <a:xfrm flipH="1">
            <a:off x="8575887" y="8280295"/>
            <a:ext cx="4041987" cy="43413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21C6DE0-82EE-C079-8C1C-3325B43619D8}"/>
              </a:ext>
            </a:extLst>
          </p:cNvPr>
          <p:cNvCxnSpPr>
            <a:cxnSpLocks/>
          </p:cNvCxnSpPr>
          <p:nvPr/>
        </p:nvCxnSpPr>
        <p:spPr>
          <a:xfrm flipH="1" flipV="1">
            <a:off x="4533900" y="4279900"/>
            <a:ext cx="8083974" cy="90417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3FD3C81-A19A-DF73-126E-496E66E57E05}"/>
              </a:ext>
            </a:extLst>
          </p:cNvPr>
          <p:cNvCxnSpPr>
            <a:cxnSpLocks/>
          </p:cNvCxnSpPr>
          <p:nvPr/>
        </p:nvCxnSpPr>
        <p:spPr>
          <a:xfrm flipH="1">
            <a:off x="1349538" y="3635961"/>
            <a:ext cx="11273910" cy="3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664D885-AF03-556D-25B2-3D96BFBCA46E}"/>
              </a:ext>
            </a:extLst>
          </p:cNvPr>
          <p:cNvSpPr/>
          <p:nvPr/>
        </p:nvSpPr>
        <p:spPr>
          <a:xfrm>
            <a:off x="13086101" y="4828503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이미지 파일삭제 버튼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D9F3579-BB84-61D6-71D8-6DE9D5F06BCA}"/>
              </a:ext>
            </a:extLst>
          </p:cNvPr>
          <p:cNvSpPr/>
          <p:nvPr/>
        </p:nvSpPr>
        <p:spPr>
          <a:xfrm>
            <a:off x="13086101" y="6376614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삭제 버튼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A87BFDA-B145-1CCC-3953-73C65720E8D9}"/>
              </a:ext>
            </a:extLst>
          </p:cNvPr>
          <p:cNvSpPr/>
          <p:nvPr/>
        </p:nvSpPr>
        <p:spPr>
          <a:xfrm>
            <a:off x="13086101" y="7569126"/>
            <a:ext cx="359762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수정 클릭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99845B7-FEE7-9B80-59E8-168712B3DB08}"/>
              </a:ext>
            </a:extLst>
          </p:cNvPr>
          <p:cNvSpPr/>
          <p:nvPr/>
        </p:nvSpPr>
        <p:spPr>
          <a:xfrm>
            <a:off x="13091675" y="3280392"/>
            <a:ext cx="359205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목록 버튼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321C6DE0-82EE-C079-8C1C-3325B43619D8}"/>
              </a:ext>
            </a:extLst>
          </p:cNvPr>
          <p:cNvCxnSpPr>
            <a:cxnSpLocks/>
          </p:cNvCxnSpPr>
          <p:nvPr/>
        </p:nvCxnSpPr>
        <p:spPr>
          <a:xfrm flipH="1">
            <a:off x="3073400" y="6732183"/>
            <a:ext cx="9544474" cy="198225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12549594" y="3146375"/>
            <a:ext cx="1006829" cy="1006829"/>
            <a:chOff x="12948672" y="1937938"/>
            <a:chExt cx="1006829" cy="1006829"/>
          </a:xfrm>
        </p:grpSpPr>
        <p:pic>
          <p:nvPicPr>
            <p:cNvPr id="3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12554061" y="4685429"/>
            <a:ext cx="1006829" cy="1006829"/>
            <a:chOff x="12948672" y="1937938"/>
            <a:chExt cx="1006829" cy="1006829"/>
          </a:xfrm>
        </p:grpSpPr>
        <p:pic>
          <p:nvPicPr>
            <p:cNvPr id="4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12535719" y="6236934"/>
            <a:ext cx="1006829" cy="1006829"/>
            <a:chOff x="12948672" y="1937938"/>
            <a:chExt cx="1006829" cy="1006829"/>
          </a:xfrm>
        </p:grpSpPr>
        <p:pic>
          <p:nvPicPr>
            <p:cNvPr id="5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12554061" y="7434137"/>
            <a:ext cx="1006829" cy="1006829"/>
            <a:chOff x="12948672" y="1937938"/>
            <a:chExt cx="1006829" cy="1006829"/>
          </a:xfrm>
        </p:grpSpPr>
        <p:pic>
          <p:nvPicPr>
            <p:cNvPr id="5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TextBox 5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012EE2D-DB5C-D002-A889-7BBF75522FE3}"/>
              </a:ext>
            </a:extLst>
          </p:cNvPr>
          <p:cNvSpPr txBox="1"/>
          <p:nvPr/>
        </p:nvSpPr>
        <p:spPr>
          <a:xfrm>
            <a:off x="13429390" y="5681041"/>
            <a:ext cx="3340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클릭 시 서버 </a:t>
            </a:r>
            <a:r>
              <a:rPr lang="en-US" altLang="ko-KR" b="1" dirty="0">
                <a:solidFill>
                  <a:srgbClr val="8E8791"/>
                </a:solidFill>
              </a:rPr>
              <a:t>upload </a:t>
            </a:r>
            <a:r>
              <a:rPr lang="ko-KR" altLang="en-US" b="1" dirty="0">
                <a:solidFill>
                  <a:srgbClr val="8E8791"/>
                </a:solidFill>
              </a:rPr>
              <a:t>폴더 및 </a:t>
            </a:r>
            <a:r>
              <a:rPr lang="en-US" altLang="ko-KR" b="1" dirty="0">
                <a:solidFill>
                  <a:srgbClr val="8E8791"/>
                </a:solidFill>
              </a:rPr>
              <a:t>DB</a:t>
            </a:r>
          </a:p>
          <a:p>
            <a:r>
              <a:rPr lang="ko-KR" altLang="en-US" b="1" dirty="0">
                <a:solidFill>
                  <a:srgbClr val="8E8791"/>
                </a:solidFill>
              </a:rPr>
              <a:t>이미지정보 삭제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52D6E-2141-F81B-0E80-F0AC5BB7CFA2}"/>
              </a:ext>
            </a:extLst>
          </p:cNvPr>
          <p:cNvSpPr txBox="1"/>
          <p:nvPr/>
        </p:nvSpPr>
        <p:spPr>
          <a:xfrm>
            <a:off x="13429389" y="8355954"/>
            <a:ext cx="3459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제품버전 </a:t>
            </a:r>
            <a:r>
              <a:rPr lang="en-US" altLang="ko-KR" b="1" dirty="0">
                <a:solidFill>
                  <a:srgbClr val="8E8791"/>
                </a:solidFill>
              </a:rPr>
              <a:t>+1 </a:t>
            </a:r>
            <a:r>
              <a:rPr lang="ko-KR" altLang="en-US" b="1" dirty="0">
                <a:solidFill>
                  <a:srgbClr val="8E8791"/>
                </a:solidFill>
              </a:rPr>
              <a:t>증가</a:t>
            </a:r>
            <a:r>
              <a:rPr lang="en-US" altLang="ko-KR" b="1" dirty="0">
                <a:solidFill>
                  <a:srgbClr val="8E8791"/>
                </a:solidFill>
              </a:rPr>
              <a:t>. </a:t>
            </a:r>
            <a:r>
              <a:rPr lang="ko-KR" altLang="en-US" b="1" dirty="0">
                <a:solidFill>
                  <a:srgbClr val="8E8791"/>
                </a:solidFill>
              </a:rPr>
              <a:t>기존</a:t>
            </a:r>
            <a:r>
              <a:rPr lang="en-US" altLang="ko-KR" b="1" dirty="0">
                <a:solidFill>
                  <a:srgbClr val="8E8791"/>
                </a:solidFill>
              </a:rPr>
              <a:t> </a:t>
            </a:r>
            <a:r>
              <a:rPr lang="ko-KR" altLang="en-US" b="1" dirty="0">
                <a:solidFill>
                  <a:srgbClr val="8E8791"/>
                </a:solidFill>
              </a:rPr>
              <a:t>제품정보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데이터 보존</a:t>
            </a:r>
            <a:r>
              <a:rPr lang="en-US" altLang="ko-KR" b="1" dirty="0">
                <a:solidFill>
                  <a:srgbClr val="8E879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113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6569911" y="2886236"/>
            <a:ext cx="436825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다중 검색 기능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349538" y="2616808"/>
            <a:ext cx="460574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목록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7778" y="2759392"/>
            <a:ext cx="2860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Mapper.xml </a:t>
            </a:r>
            <a:r>
              <a:rPr lang="ko-KR" altLang="en-US" b="1" dirty="0">
                <a:latin typeface="+mn-ea"/>
              </a:rPr>
              <a:t>에서 </a:t>
            </a:r>
            <a:endParaRPr lang="en-US" altLang="ko-KR" b="1" dirty="0">
              <a:latin typeface="+mn-ea"/>
            </a:endParaRPr>
          </a:p>
          <a:p>
            <a:r>
              <a:rPr lang="ko-KR" altLang="en-US" b="1" dirty="0">
                <a:latin typeface="+mn-ea"/>
              </a:rPr>
              <a:t>동적 </a:t>
            </a:r>
            <a:r>
              <a:rPr lang="en-US" altLang="ko-KR" b="1" dirty="0">
                <a:latin typeface="+mn-ea"/>
              </a:rPr>
              <a:t>SQL </a:t>
            </a:r>
            <a:r>
              <a:rPr lang="ko-KR" altLang="en-US" b="1" dirty="0">
                <a:latin typeface="+mn-ea"/>
              </a:rPr>
              <a:t>태그를 통해</a:t>
            </a:r>
            <a:endParaRPr lang="en-US" altLang="ko-KR" b="1" dirty="0">
              <a:latin typeface="+mn-ea"/>
            </a:endParaRPr>
          </a:p>
          <a:p>
            <a:r>
              <a:rPr lang="ko-KR" altLang="en-US" b="1" dirty="0">
                <a:latin typeface="+mn-ea"/>
              </a:rPr>
              <a:t>다중 검색 구현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43250" y="4485336"/>
            <a:ext cx="4328436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     행 클릭 시 상세 페이지로 이동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87446"/>
            <a:ext cx="10693400" cy="4850642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>
            <a:off x="8796558" y="3603786"/>
            <a:ext cx="1000381" cy="94884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8258822" y="3603786"/>
            <a:ext cx="495213" cy="94884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stCxn id="18" idx="2"/>
          </p:cNvCxnSpPr>
          <p:nvPr/>
        </p:nvCxnSpPr>
        <p:spPr>
          <a:xfrm flipH="1">
            <a:off x="6780215" y="3603786"/>
            <a:ext cx="1973820" cy="97387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9931403" y="4840905"/>
            <a:ext cx="2214718" cy="136516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3252" y="5476983"/>
            <a:ext cx="4179410" cy="425472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5682" y="7269211"/>
            <a:ext cx="4476980" cy="171459"/>
          </a:xfrm>
          <a:prstGeom prst="rect">
            <a:avLst/>
          </a:prstGeom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43250" y="6236288"/>
            <a:ext cx="4328436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  <a:latin typeface="+mn-ea"/>
              </a:rPr>
              <a:t>수정란 클릭 시</a:t>
            </a:r>
            <a:endParaRPr lang="en-US" altLang="ko-KR" sz="22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200" b="1" dirty="0">
                <a:solidFill>
                  <a:srgbClr val="8E8791"/>
                </a:solidFill>
                <a:latin typeface="+mn-ea"/>
              </a:rPr>
              <a:t>상세 페이지 이동 제외 기능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861604" y="6591857"/>
            <a:ext cx="284517" cy="31818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/>
          <p:cNvGrpSpPr/>
          <p:nvPr/>
        </p:nvGrpSpPr>
        <p:grpSpPr>
          <a:xfrm>
            <a:off x="6066496" y="2747834"/>
            <a:ext cx="1006829" cy="1006829"/>
            <a:chOff x="12948672" y="1937938"/>
            <a:chExt cx="1006829" cy="1006829"/>
          </a:xfrm>
        </p:grpSpPr>
        <p:pic>
          <p:nvPicPr>
            <p:cNvPr id="3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2046818" y="4340696"/>
            <a:ext cx="1006829" cy="1006829"/>
            <a:chOff x="12948672" y="1937938"/>
            <a:chExt cx="1006829" cy="1006829"/>
          </a:xfrm>
        </p:grpSpPr>
        <p:pic>
          <p:nvPicPr>
            <p:cNvPr id="3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2046818" y="6106308"/>
            <a:ext cx="1006829" cy="1006829"/>
            <a:chOff x="12948672" y="1937938"/>
            <a:chExt cx="1006829" cy="1006829"/>
          </a:xfrm>
        </p:grpSpPr>
        <p:pic>
          <p:nvPicPr>
            <p:cNvPr id="3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39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460574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등록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9931403" y="4840905"/>
            <a:ext cx="2214718" cy="136516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861604" y="6591857"/>
            <a:ext cx="284517" cy="31818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75" y="4073526"/>
            <a:ext cx="10710346" cy="4861874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51748" y="5632795"/>
            <a:ext cx="4368251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필수 입력란 메시지 출력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2815871" y="6494659"/>
            <a:ext cx="26597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저장 버튼 클릭 시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유효성 검사 </a:t>
            </a:r>
            <a:r>
              <a:rPr lang="en-US" altLang="ko-KR" b="1" dirty="0">
                <a:solidFill>
                  <a:srgbClr val="8E8791"/>
                </a:solidFill>
              </a:rPr>
              <a:t>JS </a:t>
            </a:r>
            <a:r>
              <a:rPr lang="ko-KR" altLang="en-US" b="1" dirty="0">
                <a:solidFill>
                  <a:srgbClr val="8E8791"/>
                </a:solidFill>
              </a:rPr>
              <a:t>함수 호출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57539" y="7549642"/>
            <a:ext cx="436825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등록 시 거래처 및 거래처 이력 테이블에 등록 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2954931" y="5991430"/>
            <a:ext cx="9166191" cy="2115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000263" y="7905211"/>
            <a:ext cx="1156493" cy="44545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8227789" y="2964446"/>
            <a:ext cx="436825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팝업을 통한 사원 선택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47691" y="2894942"/>
            <a:ext cx="2860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8E8791"/>
                </a:solidFill>
              </a:rPr>
              <a:t>JS</a:t>
            </a:r>
            <a:r>
              <a:rPr lang="ko-KR" altLang="en-US" b="1" dirty="0">
                <a:solidFill>
                  <a:srgbClr val="8E8791"/>
                </a:solidFill>
              </a:rPr>
              <a:t>의 </a:t>
            </a:r>
            <a:r>
              <a:rPr lang="en-US" altLang="ko-KR" b="1" dirty="0" err="1">
                <a:solidFill>
                  <a:srgbClr val="8E8791"/>
                </a:solidFill>
              </a:rPr>
              <a:t>window.open</a:t>
            </a:r>
            <a:r>
              <a:rPr lang="en-US" altLang="ko-KR" b="1" dirty="0">
                <a:solidFill>
                  <a:srgbClr val="8E8791"/>
                </a:solidFill>
              </a:rPr>
              <a:t>()</a:t>
            </a:r>
          </a:p>
          <a:p>
            <a:r>
              <a:rPr lang="ko-KR" altLang="en-US" b="1" dirty="0">
                <a:solidFill>
                  <a:srgbClr val="8E8791"/>
                </a:solidFill>
              </a:rPr>
              <a:t>기능을 이용해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팝업 호출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stCxn id="60" idx="2"/>
          </p:cNvCxnSpPr>
          <p:nvPr/>
        </p:nvCxnSpPr>
        <p:spPr>
          <a:xfrm flipH="1">
            <a:off x="6660683" y="3681996"/>
            <a:ext cx="3751230" cy="183393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12452332" y="8412482"/>
            <a:ext cx="4514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이력은 기존 입력 정보에 </a:t>
            </a:r>
            <a:r>
              <a:rPr lang="en-US" altLang="ko-KR" b="1" dirty="0">
                <a:solidFill>
                  <a:srgbClr val="8E8791"/>
                </a:solidFill>
              </a:rPr>
              <a:t>+ (</a:t>
            </a:r>
            <a:r>
              <a:rPr lang="ko-KR" altLang="en-US" b="1" dirty="0">
                <a:solidFill>
                  <a:srgbClr val="8E8791"/>
                </a:solidFill>
              </a:rPr>
              <a:t>시작일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마감일</a:t>
            </a:r>
            <a:r>
              <a:rPr lang="en-US" altLang="ko-KR" b="1" dirty="0">
                <a:solidFill>
                  <a:srgbClr val="8E8791"/>
                </a:solidFill>
              </a:rPr>
              <a:t>)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7724374" y="2811443"/>
            <a:ext cx="1006829" cy="1006829"/>
            <a:chOff x="12948672" y="1937938"/>
            <a:chExt cx="1006829" cy="1006829"/>
          </a:xfrm>
        </p:grpSpPr>
        <p:pic>
          <p:nvPicPr>
            <p:cNvPr id="3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12081151" y="5477706"/>
            <a:ext cx="1006829" cy="1006829"/>
            <a:chOff x="12948672" y="1937938"/>
            <a:chExt cx="1006829" cy="1006829"/>
          </a:xfrm>
        </p:grpSpPr>
        <p:pic>
          <p:nvPicPr>
            <p:cNvPr id="3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12081151" y="7432000"/>
            <a:ext cx="1006829" cy="1006829"/>
            <a:chOff x="12948672" y="1937938"/>
            <a:chExt cx="1006829" cy="1006829"/>
          </a:xfrm>
        </p:grpSpPr>
        <p:pic>
          <p:nvPicPr>
            <p:cNvPr id="37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240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360951" y="4032916"/>
            <a:ext cx="355485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사원 명 검색 기능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사원 선택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89400"/>
            <a:ext cx="10719514" cy="4845051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12024281" y="4471558"/>
            <a:ext cx="688665" cy="46166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012111" y="5864803"/>
            <a:ext cx="390369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선택 시 영업 담당자 입력란에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사원명 자동 삽입 및 창 닫힘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 flipV="1">
            <a:off x="11819823" y="5811884"/>
            <a:ext cx="1006829" cy="36753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12518096" y="3926394"/>
            <a:ext cx="1006829" cy="1006829"/>
            <a:chOff x="12948672" y="1937938"/>
            <a:chExt cx="1006829" cy="1006829"/>
          </a:xfrm>
        </p:grpSpPr>
        <p:pic>
          <p:nvPicPr>
            <p:cNvPr id="2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12508696" y="5720163"/>
            <a:ext cx="1006829" cy="1006829"/>
            <a:chOff x="12948672" y="1937938"/>
            <a:chExt cx="1006829" cy="1006829"/>
          </a:xfrm>
        </p:grpSpPr>
        <p:pic>
          <p:nvPicPr>
            <p:cNvPr id="2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933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940492" y="3160743"/>
            <a:ext cx="3955456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수정 시작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기존 정보 자동 입력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거래처 수정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4"/>
            <a:ext cx="10693400" cy="486092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6952305" y="3570847"/>
            <a:ext cx="5446949" cy="168427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551963" y="4823670"/>
            <a:ext cx="10410739" cy="3263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42245" y="7455564"/>
            <a:ext cx="436825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8E8791"/>
                </a:solidFill>
                <a:latin typeface="+mn-ea"/>
              </a:rPr>
              <a:t>수정 시 </a:t>
            </a:r>
            <a:endParaRPr lang="en-US" altLang="ko-KR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기존 이력 마감 및 새 이력 생성</a:t>
            </a:r>
            <a:endParaRPr lang="en-US" altLang="ko-KR" sz="2000" b="1" spc="-100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277602" y="7784023"/>
            <a:ext cx="863860" cy="51839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158202" y="8276722"/>
            <a:ext cx="2965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기존 이력은 마감일 </a:t>
            </a:r>
            <a:r>
              <a:rPr lang="en-US" altLang="ko-KR" b="1" dirty="0">
                <a:solidFill>
                  <a:srgbClr val="8E8791"/>
                </a:solidFill>
              </a:rPr>
              <a:t>UPDATE</a:t>
            </a:r>
            <a:r>
              <a:rPr lang="ko-KR" altLang="en-US" b="1" dirty="0">
                <a:solidFill>
                  <a:srgbClr val="8E8791"/>
                </a:solidFill>
              </a:rPr>
              <a:t> 및 새 이력 </a:t>
            </a:r>
            <a:r>
              <a:rPr lang="en-US" altLang="ko-KR" b="1" dirty="0">
                <a:solidFill>
                  <a:srgbClr val="8E8791"/>
                </a:solidFill>
              </a:rPr>
              <a:t>INSERT</a:t>
            </a:r>
            <a:endParaRPr lang="ko-KR" altLang="en-US" b="1" dirty="0">
              <a:solidFill>
                <a:srgbClr val="8E879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27696" y="4659419"/>
            <a:ext cx="436825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취소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거래처 목록으로 이동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4417996" y="4971264"/>
            <a:ext cx="7905001" cy="331215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/>
          <p:cNvGrpSpPr/>
          <p:nvPr/>
        </p:nvGrpSpPr>
        <p:grpSpPr>
          <a:xfrm>
            <a:off x="12097637" y="3054221"/>
            <a:ext cx="1006829" cy="1006829"/>
            <a:chOff x="12948672" y="1937938"/>
            <a:chExt cx="1006829" cy="1006829"/>
          </a:xfrm>
        </p:grpSpPr>
        <p:pic>
          <p:nvPicPr>
            <p:cNvPr id="2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2046818" y="4529378"/>
            <a:ext cx="1006829" cy="1006829"/>
            <a:chOff x="12948672" y="1937938"/>
            <a:chExt cx="1006829" cy="1006829"/>
          </a:xfrm>
        </p:grpSpPr>
        <p:pic>
          <p:nvPicPr>
            <p:cNvPr id="3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2046818" y="7339998"/>
            <a:ext cx="1006829" cy="1006829"/>
            <a:chOff x="12948672" y="1937938"/>
            <a:chExt cx="1006829" cy="1006829"/>
          </a:xfrm>
        </p:grpSpPr>
        <p:pic>
          <p:nvPicPr>
            <p:cNvPr id="3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79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-14514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7296780" y="2467024"/>
            <a:ext cx="428167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목록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617880" y="2428633"/>
            <a:ext cx="4294091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출고 상태 별 도트 색상 변동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7548" y="2493516"/>
            <a:ext cx="3821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월 마감 시 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수주 등록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수정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취소 불가 기능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5"/>
            <a:ext cx="10694024" cy="486092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3782728" y="2919099"/>
            <a:ext cx="3514052" cy="138919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9110185" y="2902963"/>
            <a:ext cx="3489938" cy="249734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07548" y="3400815"/>
            <a:ext cx="2880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등록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수정 버튼 클릭 시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불가 메시지 출력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79267" y="5196213"/>
            <a:ext cx="433270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출고 상태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완료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마감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)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에 따라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수정 버튼 비활성화 기능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11833734" y="5516334"/>
            <a:ext cx="784146" cy="155823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/>
          <p:cNvGrpSpPr/>
          <p:nvPr/>
        </p:nvGrpSpPr>
        <p:grpSpPr>
          <a:xfrm>
            <a:off x="6793365" y="2341412"/>
            <a:ext cx="1006829" cy="1006829"/>
            <a:chOff x="12948672" y="1937938"/>
            <a:chExt cx="1006829" cy="1006829"/>
          </a:xfrm>
        </p:grpSpPr>
        <p:pic>
          <p:nvPicPr>
            <p:cNvPr id="2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2114466" y="2335398"/>
            <a:ext cx="997856" cy="1006829"/>
            <a:chOff x="12948672" y="1937938"/>
            <a:chExt cx="1006829" cy="1006829"/>
          </a:xfrm>
        </p:grpSpPr>
        <p:pic>
          <p:nvPicPr>
            <p:cNvPr id="3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12104242" y="5080191"/>
            <a:ext cx="1006829" cy="1006829"/>
            <a:chOff x="12948672" y="1937938"/>
            <a:chExt cx="1006829" cy="1006829"/>
          </a:xfrm>
        </p:grpSpPr>
        <p:pic>
          <p:nvPicPr>
            <p:cNvPr id="4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272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76692" y="3784567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 클릭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출고 상태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승인으로 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상세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6"/>
            <a:ext cx="10693401" cy="4860924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5274349" y="4216212"/>
            <a:ext cx="7288953" cy="439266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2591746" y="3089649"/>
            <a:ext cx="5417062" cy="454139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2997637" y="3089649"/>
            <a:ext cx="5011171" cy="15358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75089" y="5780124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가용 부품 재고 부족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부품 부족 안내 페이지로 이동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6573618" y="6207409"/>
            <a:ext cx="5981077" cy="241923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63862" y="7775681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수주 취소 클릭 시 논리적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삭제</a:t>
            </a:r>
            <a:endParaRPr lang="en-US" altLang="ko-KR" sz="2000" b="1" spc="-100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진행 후 수주 목록 페이지로 이동</a:t>
            </a:r>
            <a:endParaRPr lang="en-US" altLang="ko-KR" sz="2000" b="1" spc="-100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40" idx="2"/>
          </p:cNvCxnSpPr>
          <p:nvPr/>
        </p:nvCxnSpPr>
        <p:spPr>
          <a:xfrm flipH="1">
            <a:off x="10977185" y="8198606"/>
            <a:ext cx="1573287" cy="42804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8022198" y="2661571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거래처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제품으로 테이블 분할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7518783" y="2522084"/>
            <a:ext cx="1006829" cy="1006829"/>
            <a:chOff x="12948672" y="1937938"/>
            <a:chExt cx="1006829" cy="1006829"/>
          </a:xfrm>
        </p:grpSpPr>
        <p:pic>
          <p:nvPicPr>
            <p:cNvPr id="3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12073277" y="3648647"/>
            <a:ext cx="1006829" cy="1006829"/>
            <a:chOff x="12948672" y="1937938"/>
            <a:chExt cx="1006829" cy="1006829"/>
          </a:xfrm>
        </p:grpSpPr>
        <p:pic>
          <p:nvPicPr>
            <p:cNvPr id="3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2064670" y="5639844"/>
            <a:ext cx="1006829" cy="1006829"/>
            <a:chOff x="12948672" y="1937938"/>
            <a:chExt cx="1006829" cy="1006829"/>
          </a:xfrm>
        </p:grpSpPr>
        <p:pic>
          <p:nvPicPr>
            <p:cNvPr id="3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2060447" y="7631041"/>
            <a:ext cx="1006829" cy="1006829"/>
            <a:chOff x="12948672" y="1937938"/>
            <a:chExt cx="1006829" cy="1006829"/>
          </a:xfrm>
        </p:grpSpPr>
        <p:pic>
          <p:nvPicPr>
            <p:cNvPr id="3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534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318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 부족 안내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6312491" y="2762175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부족 부품에 대해 필요 정보 출력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685" y="4047068"/>
            <a:ext cx="7110299" cy="4887382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557867" y="5517013"/>
            <a:ext cx="6873864" cy="468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1515" y="4073525"/>
            <a:ext cx="6535553" cy="4860925"/>
          </a:xfrm>
          <a:prstGeom prst="rect">
            <a:avLst/>
          </a:prstGeom>
        </p:spPr>
      </p:pic>
      <p:sp>
        <p:nvSpPr>
          <p:cNvPr id="19" name="오른쪽 화살표 18"/>
          <p:cNvSpPr/>
          <p:nvPr/>
        </p:nvSpPr>
        <p:spPr>
          <a:xfrm>
            <a:off x="8643486" y="6208295"/>
            <a:ext cx="962527" cy="500513"/>
          </a:xfrm>
          <a:prstGeom prst="rightArrow">
            <a:avLst/>
          </a:prstGeom>
          <a:solidFill>
            <a:srgbClr val="262F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357614" y="2755342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ㄱ"/>
              </a:rPr>
              <a:t>발주로 이동 클릭 시 부품 정보</a:t>
            </a:r>
            <a:endParaRPr lang="en-US" altLang="ko-KR" sz="2000" b="1" spc="-100" dirty="0">
              <a:solidFill>
                <a:srgbClr val="8E8791"/>
              </a:solidFill>
              <a:latin typeface="ㄱ"/>
            </a:endParaRPr>
          </a:p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ㄱ"/>
              </a:rPr>
              <a:t>발주 등록 페이지에 자동 입력</a:t>
            </a:r>
            <a:endParaRPr lang="en-US" altLang="ko-KR" sz="2000" b="1" spc="-100" dirty="0">
              <a:solidFill>
                <a:srgbClr val="8E8791"/>
              </a:solidFill>
              <a:latin typeface="ㄱ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7314869" y="3479725"/>
            <a:ext cx="154196" cy="203728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944584" y="6852841"/>
            <a:ext cx="3684789" cy="1329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stCxn id="41" idx="2"/>
          </p:cNvCxnSpPr>
          <p:nvPr/>
        </p:nvCxnSpPr>
        <p:spPr>
          <a:xfrm flipH="1">
            <a:off x="13260684" y="3472892"/>
            <a:ext cx="1266181" cy="337994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/>
          <p:cNvGrpSpPr/>
          <p:nvPr/>
        </p:nvGrpSpPr>
        <p:grpSpPr>
          <a:xfrm>
            <a:off x="5809076" y="2617535"/>
            <a:ext cx="1006829" cy="1006829"/>
            <a:chOff x="12948672" y="1937938"/>
            <a:chExt cx="1006829" cy="1006829"/>
          </a:xfrm>
        </p:grpSpPr>
        <p:pic>
          <p:nvPicPr>
            <p:cNvPr id="2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1854199" y="2610702"/>
            <a:ext cx="1006829" cy="1006829"/>
            <a:chOff x="12948672" y="1937938"/>
            <a:chExt cx="1006829" cy="1006829"/>
          </a:xfrm>
        </p:grpSpPr>
        <p:pic>
          <p:nvPicPr>
            <p:cNvPr id="2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54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33185" y="4550982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   </a:t>
            </a:r>
            <a:r>
              <a:rPr lang="ko-KR" altLang="en-US" sz="2000" b="1" dirty="0" err="1">
                <a:solidFill>
                  <a:srgbClr val="8E8791"/>
                </a:solidFill>
                <a:latin typeface="+mn-ea"/>
              </a:rPr>
              <a:t>재수주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요청 시 요청 상태로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변경 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후 수정 페이지로 이동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상세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8288250" y="2510299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완료 클릭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출고 상태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완료로 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52740" y="6890727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 취소 클릭 시 요청 상태로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73524"/>
            <a:ext cx="10693400" cy="4860925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3821230" y="2955978"/>
            <a:ext cx="4551970" cy="55763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94989" y="3222208"/>
            <a:ext cx="3867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완료 시 </a:t>
            </a:r>
            <a:r>
              <a:rPr lang="en-US" altLang="ko-KR" b="1" dirty="0">
                <a:solidFill>
                  <a:srgbClr val="8E8791"/>
                </a:solidFill>
              </a:rPr>
              <a:t>UPDATE</a:t>
            </a:r>
            <a:r>
              <a:rPr lang="ko-KR" altLang="en-US" b="1" dirty="0">
                <a:solidFill>
                  <a:srgbClr val="8E8791"/>
                </a:solidFill>
              </a:rPr>
              <a:t>를 통해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출고 대기 수량 </a:t>
            </a:r>
            <a:r>
              <a:rPr lang="en-US" altLang="ko-KR" b="1" dirty="0">
                <a:solidFill>
                  <a:srgbClr val="8E8791"/>
                </a:solidFill>
              </a:rPr>
              <a:t>-&gt; </a:t>
            </a:r>
            <a:r>
              <a:rPr lang="ko-KR" altLang="en-US" b="1" dirty="0">
                <a:solidFill>
                  <a:srgbClr val="8E8791"/>
                </a:solidFill>
              </a:rPr>
              <a:t>출고 수량으로 이동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5616314" y="4968798"/>
            <a:ext cx="6813560" cy="366942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8063187" y="7419552"/>
            <a:ext cx="4217017" cy="1112767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/>
          <p:cNvGrpSpPr/>
          <p:nvPr/>
        </p:nvGrpSpPr>
        <p:grpSpPr>
          <a:xfrm>
            <a:off x="7784835" y="2365659"/>
            <a:ext cx="1006829" cy="1006829"/>
            <a:chOff x="12948672" y="1937938"/>
            <a:chExt cx="1006829" cy="1006829"/>
          </a:xfrm>
        </p:grpSpPr>
        <p:pic>
          <p:nvPicPr>
            <p:cNvPr id="2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1939849" y="4401233"/>
            <a:ext cx="1006829" cy="1006829"/>
            <a:chOff x="12948672" y="1937938"/>
            <a:chExt cx="1006829" cy="1006829"/>
          </a:xfrm>
        </p:grpSpPr>
        <p:pic>
          <p:nvPicPr>
            <p:cNvPr id="2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11890704" y="6746087"/>
            <a:ext cx="1006829" cy="1006829"/>
            <a:chOff x="12948672" y="1937938"/>
            <a:chExt cx="1006829" cy="1006829"/>
          </a:xfrm>
        </p:grpSpPr>
        <p:pic>
          <p:nvPicPr>
            <p:cNvPr id="3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038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상세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33184" y="5214634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완료 취소 클릭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 상태로 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5"/>
            <a:ext cx="10722514" cy="4860925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8633861" y="5668615"/>
            <a:ext cx="3872709" cy="286834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12016545" y="5101050"/>
            <a:ext cx="1006829" cy="1006829"/>
            <a:chOff x="12948672" y="1937938"/>
            <a:chExt cx="1006829" cy="1006829"/>
          </a:xfrm>
        </p:grpSpPr>
        <p:pic>
          <p:nvPicPr>
            <p:cNvPr id="20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99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등록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920" y="4095728"/>
            <a:ext cx="10693716" cy="4871319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1617044" y="5370897"/>
            <a:ext cx="10263777" cy="981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617631" y="3771691"/>
            <a:ext cx="429183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 조회 클릭 시 제품 팝업 창으로 이동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70751" y="6626377"/>
            <a:ext cx="430061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각 버튼 클릭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동적 행 추가 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or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삭제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536716" y="7256384"/>
            <a:ext cx="635982" cy="50693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796583" y="7256384"/>
            <a:ext cx="376115" cy="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7318394" y="2292688"/>
            <a:ext cx="437503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조회 시 거래처 팝업 창으로 이동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390681" y="2344348"/>
            <a:ext cx="450900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납기일은 금일 이후 날짜 </a:t>
            </a:r>
            <a:r>
              <a:rPr lang="ko-KR" altLang="en-US" sz="2000" b="1" dirty="0" err="1">
                <a:solidFill>
                  <a:srgbClr val="8E8791"/>
                </a:solidFill>
                <a:latin typeface="+mn-ea"/>
              </a:rPr>
              <a:t>부터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선택 가능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97015" y="3212505"/>
            <a:ext cx="40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거래처 관련 정보는 수기 입력 불가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 flipV="1">
            <a:off x="10784203" y="8268490"/>
            <a:ext cx="1370808" cy="14079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76" idx="2"/>
          </p:cNvCxnSpPr>
          <p:nvPr/>
        </p:nvCxnSpPr>
        <p:spPr>
          <a:xfrm flipH="1">
            <a:off x="6178082" y="4197457"/>
            <a:ext cx="6303536" cy="370373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4828725" y="2773692"/>
            <a:ext cx="7704697" cy="396045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4892225" y="2747649"/>
            <a:ext cx="2458319" cy="278060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53064" y="8053720"/>
            <a:ext cx="4318306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값 입력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자동 합계 계산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53064" y="5199034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제품 중복 선택 시 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“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이미 선택된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제품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”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메시지 출력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791440" y="8008993"/>
            <a:ext cx="8992763" cy="259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5992943" y="5528257"/>
            <a:ext cx="6397738" cy="178672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/>
          <p:cNvGrpSpPr/>
          <p:nvPr/>
        </p:nvGrpSpPr>
        <p:grpSpPr>
          <a:xfrm>
            <a:off x="6786865" y="2180084"/>
            <a:ext cx="1015306" cy="1006829"/>
            <a:chOff x="12948672" y="1937938"/>
            <a:chExt cx="1006829" cy="1006829"/>
          </a:xfrm>
        </p:grpSpPr>
        <p:pic>
          <p:nvPicPr>
            <p:cNvPr id="5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TextBox 6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12024140" y="2206127"/>
            <a:ext cx="1046397" cy="1006829"/>
            <a:chOff x="12948672" y="1937938"/>
            <a:chExt cx="1006829" cy="1006829"/>
          </a:xfrm>
        </p:grpSpPr>
        <p:pic>
          <p:nvPicPr>
            <p:cNvPr id="6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TextBox 6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11991593" y="3629892"/>
            <a:ext cx="1006829" cy="1006829"/>
            <a:chOff x="12948672" y="1937938"/>
            <a:chExt cx="1006829" cy="1006829"/>
          </a:xfrm>
        </p:grpSpPr>
        <p:pic>
          <p:nvPicPr>
            <p:cNvPr id="7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6" name="TextBox 7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1978202" y="5053657"/>
            <a:ext cx="1006829" cy="1006829"/>
            <a:chOff x="12948672" y="1937938"/>
            <a:chExt cx="1006829" cy="1006829"/>
          </a:xfrm>
        </p:grpSpPr>
        <p:pic>
          <p:nvPicPr>
            <p:cNvPr id="7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" name="TextBox 8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11964811" y="6477422"/>
            <a:ext cx="1006829" cy="1006829"/>
            <a:chOff x="12948672" y="1937938"/>
            <a:chExt cx="1006829" cy="1006829"/>
          </a:xfrm>
        </p:grpSpPr>
        <p:pic>
          <p:nvPicPr>
            <p:cNvPr id="8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TextBox 8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05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11951420" y="7901187"/>
            <a:ext cx="1006829" cy="1006829"/>
            <a:chOff x="12948672" y="1937938"/>
            <a:chExt cx="1006829" cy="1006829"/>
          </a:xfrm>
        </p:grpSpPr>
        <p:pic>
          <p:nvPicPr>
            <p:cNvPr id="8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0" name="TextBox 8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06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605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수주 수정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403424" y="3156406"/>
            <a:ext cx="4484885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기존 수주 정보 불러오기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49808" y="5444856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수정 시 수정 일자 생성 및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해당 거래처 최신 정보 반영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4973"/>
            <a:ext cx="10714671" cy="4859477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10385659" y="3309305"/>
            <a:ext cx="1893215" cy="145742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11785601" y="5938787"/>
            <a:ext cx="515688" cy="261254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651000" y="4580467"/>
            <a:ext cx="10289230" cy="386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4572676" y="6327547"/>
            <a:ext cx="204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수정일자</a:t>
            </a:r>
            <a:r>
              <a:rPr lang="en-US" altLang="ko-KR" b="1" dirty="0">
                <a:solidFill>
                  <a:srgbClr val="8E8791"/>
                </a:solidFill>
              </a:rPr>
              <a:t> </a:t>
            </a:r>
            <a:r>
              <a:rPr lang="ko-KR" altLang="en-US" b="1" dirty="0">
                <a:solidFill>
                  <a:srgbClr val="8E8791"/>
                </a:solidFill>
              </a:rPr>
              <a:t>기준으로 거래처 이력</a:t>
            </a:r>
            <a:r>
              <a:rPr lang="en-US" altLang="ko-KR" b="1" dirty="0">
                <a:solidFill>
                  <a:srgbClr val="8E8791"/>
                </a:solidFill>
              </a:rPr>
              <a:t> </a:t>
            </a:r>
            <a:r>
              <a:rPr lang="ko-KR" altLang="en-US" b="1" dirty="0">
                <a:solidFill>
                  <a:srgbClr val="8E8791"/>
                </a:solidFill>
              </a:rPr>
              <a:t>정보 반영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4489" y="7207085"/>
            <a:ext cx="4243821" cy="493468"/>
          </a:xfrm>
          <a:prstGeom prst="rect">
            <a:avLst/>
          </a:prstGeom>
        </p:spPr>
      </p:pic>
      <p:grpSp>
        <p:nvGrpSpPr>
          <p:cNvPr id="24" name="그룹 23"/>
          <p:cNvGrpSpPr/>
          <p:nvPr/>
        </p:nvGrpSpPr>
        <p:grpSpPr>
          <a:xfrm>
            <a:off x="11879248" y="3011766"/>
            <a:ext cx="1040800" cy="1006829"/>
            <a:chOff x="12948672" y="1937938"/>
            <a:chExt cx="1006829" cy="1006829"/>
          </a:xfrm>
        </p:grpSpPr>
        <p:pic>
          <p:nvPicPr>
            <p:cNvPr id="2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1892953" y="5300216"/>
            <a:ext cx="1006829" cy="1006829"/>
            <a:chOff x="12948672" y="1937938"/>
            <a:chExt cx="1006829" cy="1006829"/>
          </a:xfrm>
        </p:grpSpPr>
        <p:pic>
          <p:nvPicPr>
            <p:cNvPr id="2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015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</a:t>
            </a:r>
            <a:r>
              <a:rPr lang="ko-KR" altLang="en-US" sz="2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목록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91207"/>
            <a:ext cx="10693400" cy="4843243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8322263" y="2525517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14227" y="4595318"/>
            <a:ext cx="433270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입고 상태 별 도트 색상 변동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9284" y="2561635"/>
            <a:ext cx="3674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월 마감 시 </a:t>
            </a:r>
            <a:endParaRPr lang="en-US" altLang="ko-KR" sz="2000" b="1" spc="-100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발주 등록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수정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취소 불가 기능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9168209" y="5018243"/>
            <a:ext cx="3348371" cy="47725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38217" y="3414088"/>
            <a:ext cx="2880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등록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수정 버튼 클릭 시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불가 메시지 출력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14227" y="7154463"/>
            <a:ext cx="4332704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        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   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입고 상태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(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완료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마감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)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에 따라</a:t>
            </a:r>
            <a:endParaRPr lang="en-US" altLang="ko-KR" sz="2000" b="1" spc="-100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수정 버튼 비활성화 기능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 flipV="1">
            <a:off x="11862252" y="6302407"/>
            <a:ext cx="583213" cy="118996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3520412" y="2939592"/>
            <a:ext cx="4788461" cy="141926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7818848" y="2372027"/>
            <a:ext cx="1006829" cy="1006829"/>
            <a:chOff x="12948672" y="1937938"/>
            <a:chExt cx="1006829" cy="1006829"/>
          </a:xfrm>
        </p:grpSpPr>
        <p:pic>
          <p:nvPicPr>
            <p:cNvPr id="2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2026555" y="4450678"/>
            <a:ext cx="1006829" cy="1006829"/>
            <a:chOff x="12948672" y="1937938"/>
            <a:chExt cx="1006829" cy="1006829"/>
          </a:xfrm>
        </p:grpSpPr>
        <p:pic>
          <p:nvPicPr>
            <p:cNvPr id="3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12010812" y="7052955"/>
            <a:ext cx="1006829" cy="1006829"/>
            <a:chOff x="12948672" y="1937938"/>
            <a:chExt cx="1006829" cy="1006829"/>
          </a:xfrm>
        </p:grpSpPr>
        <p:pic>
          <p:nvPicPr>
            <p:cNvPr id="4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75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상세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4"/>
            <a:ext cx="10718242" cy="486092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374564" y="5054940"/>
            <a:ext cx="452780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 클릭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입고 상태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승인으로 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5352176" y="5462019"/>
            <a:ext cx="7022388" cy="316462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63862" y="7111538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수주 취소 클릭 시 논리적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삭제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진행 후 수주 목록 페이지로 이동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0977185" y="7554407"/>
            <a:ext cx="1204779" cy="10722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7606301" y="2707475"/>
            <a:ext cx="4575663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거래처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,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부품으로 테이블 분할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2810934" y="3105835"/>
            <a:ext cx="4805300" cy="155812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2288797" y="3105835"/>
            <a:ext cx="5327437" cy="394168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/>
          <p:cNvGrpSpPr/>
          <p:nvPr/>
        </p:nvGrpSpPr>
        <p:grpSpPr>
          <a:xfrm>
            <a:off x="7102887" y="2538270"/>
            <a:ext cx="1054747" cy="1006829"/>
            <a:chOff x="12948672" y="1937938"/>
            <a:chExt cx="1006829" cy="1006829"/>
          </a:xfrm>
        </p:grpSpPr>
        <p:pic>
          <p:nvPicPr>
            <p:cNvPr id="4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1872657" y="4894454"/>
            <a:ext cx="1006829" cy="1006829"/>
            <a:chOff x="12948672" y="1937938"/>
            <a:chExt cx="1006829" cy="1006829"/>
          </a:xfrm>
        </p:grpSpPr>
        <p:pic>
          <p:nvPicPr>
            <p:cNvPr id="51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11907026" y="6966898"/>
            <a:ext cx="1006829" cy="1006829"/>
            <a:chOff x="12948672" y="1937938"/>
            <a:chExt cx="1006829" cy="1006829"/>
          </a:xfrm>
        </p:grpSpPr>
        <p:pic>
          <p:nvPicPr>
            <p:cNvPr id="5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67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상세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73524"/>
            <a:ext cx="10697316" cy="486092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13668" y="4957116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   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재 발주 요청 시 요청 상태로</a:t>
            </a:r>
            <a:r>
              <a:rPr lang="en-US" altLang="ko-KR" sz="2000" b="1" spc="-100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변경 </a:t>
            </a:r>
            <a:endParaRPr lang="en-US" altLang="ko-KR" sz="2000" b="1" spc="-100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spc="-100" dirty="0">
                <a:solidFill>
                  <a:srgbClr val="8E8791"/>
                </a:solidFill>
                <a:latin typeface="+mn-ea"/>
              </a:rPr>
              <a:t>후 수정 페이지로 이동</a:t>
            </a:r>
            <a:endParaRPr lang="en-US" altLang="ko-KR" sz="2000" b="1" spc="-100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8444771" y="2416528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완료 클릭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입고 상태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완료로 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13668" y="7688966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 취소 클릭 시 요청 상태로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41887" y="3128437"/>
            <a:ext cx="3867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완료 시 </a:t>
            </a:r>
            <a:r>
              <a:rPr lang="en-US" altLang="ko-KR" b="1" dirty="0">
                <a:solidFill>
                  <a:srgbClr val="8E8791"/>
                </a:solidFill>
              </a:rPr>
              <a:t>UPDATE</a:t>
            </a:r>
            <a:r>
              <a:rPr lang="ko-KR" altLang="en-US" b="1" dirty="0">
                <a:solidFill>
                  <a:srgbClr val="8E8791"/>
                </a:solidFill>
              </a:rPr>
              <a:t>를 통해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입고 대기 수량 </a:t>
            </a:r>
            <a:r>
              <a:rPr lang="en-US" altLang="ko-KR" b="1" dirty="0">
                <a:solidFill>
                  <a:srgbClr val="8E8791"/>
                </a:solidFill>
              </a:rPr>
              <a:t>-&gt; </a:t>
            </a:r>
            <a:r>
              <a:rPr lang="ko-KR" altLang="en-US" b="1" dirty="0">
                <a:solidFill>
                  <a:srgbClr val="8E8791"/>
                </a:solidFill>
              </a:rPr>
              <a:t>입고 수량으로 이동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8063187" y="8021414"/>
            <a:ext cx="4446205" cy="56345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3110697" y="2839453"/>
            <a:ext cx="5320684" cy="574541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5461000" y="5364195"/>
            <a:ext cx="6913284" cy="326448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7941356" y="2271888"/>
            <a:ext cx="1006829" cy="1006829"/>
            <a:chOff x="12948672" y="1937938"/>
            <a:chExt cx="1006829" cy="1006829"/>
          </a:xfrm>
        </p:grpSpPr>
        <p:pic>
          <p:nvPicPr>
            <p:cNvPr id="3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12011761" y="4796630"/>
            <a:ext cx="1006829" cy="1006829"/>
            <a:chOff x="12948672" y="1937938"/>
            <a:chExt cx="1006829" cy="1006829"/>
          </a:xfrm>
        </p:grpSpPr>
        <p:pic>
          <p:nvPicPr>
            <p:cNvPr id="4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12061677" y="7560875"/>
            <a:ext cx="1006829" cy="1006829"/>
            <a:chOff x="12948672" y="1937938"/>
            <a:chExt cx="1006829" cy="1006829"/>
          </a:xfrm>
        </p:grpSpPr>
        <p:pic>
          <p:nvPicPr>
            <p:cNvPr id="47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TextBox 47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633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상세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4" y="4073525"/>
            <a:ext cx="10693400" cy="486092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33185" y="5214634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완료 취소 클릭 시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승인 상태로 변경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8534400" y="5654108"/>
            <a:ext cx="3985395" cy="2994592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2029770" y="5086543"/>
            <a:ext cx="1006829" cy="1006829"/>
            <a:chOff x="12948672" y="1937938"/>
            <a:chExt cx="1006829" cy="1006829"/>
          </a:xfrm>
        </p:grpSpPr>
        <p:pic>
          <p:nvPicPr>
            <p:cNvPr id="1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283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-952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등록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4"/>
            <a:ext cx="10697318" cy="4860925"/>
          </a:xfrm>
          <a:prstGeom prst="rect">
            <a:avLst/>
          </a:prstGeom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53064" y="6083192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 조회 클릭 시 부품 팝업 창으로 이동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8446215" y="2473763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조회 시 거래처 팝업 창으로 이동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38007" y="4172396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   납기일은 금일 이후 날짜 </a:t>
            </a:r>
            <a:r>
              <a:rPr lang="ko-KR" altLang="en-US" sz="2000" b="1" dirty="0" err="1">
                <a:solidFill>
                  <a:srgbClr val="8E8791"/>
                </a:solidFill>
                <a:latin typeface="+mn-ea"/>
              </a:rPr>
              <a:t>부터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선택 가능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88752" y="3313307"/>
            <a:ext cx="404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거래처 관련 정보는 수기 입력 불가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6157454" y="6519804"/>
            <a:ext cx="6345776" cy="118618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>
            <a:off x="5003800" y="2709561"/>
            <a:ext cx="3258049" cy="2878439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1617044" y="5370897"/>
            <a:ext cx="10263777" cy="981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5018156" y="4639007"/>
            <a:ext cx="7422228" cy="224636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70962" y="8060922"/>
            <a:ext cx="4300725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부품 중복 선택 시 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“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이미 선택된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부품</a:t>
            </a:r>
            <a:r>
              <a:rPr lang="en-US" altLang="ko-KR" sz="2000" b="1" dirty="0">
                <a:solidFill>
                  <a:srgbClr val="8E8791"/>
                </a:solidFill>
                <a:latin typeface="+mn-ea"/>
              </a:rPr>
              <a:t>”</a:t>
            </a:r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 메시지 출력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</p:cNvCxnSpPr>
          <p:nvPr/>
        </p:nvCxnSpPr>
        <p:spPr>
          <a:xfrm flipH="1" flipV="1">
            <a:off x="6157454" y="7883091"/>
            <a:ext cx="6134007" cy="45625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/>
          <p:cNvGrpSpPr/>
          <p:nvPr/>
        </p:nvGrpSpPr>
        <p:grpSpPr>
          <a:xfrm>
            <a:off x="7843337" y="2329123"/>
            <a:ext cx="1006829" cy="1006829"/>
            <a:chOff x="12948672" y="1937938"/>
            <a:chExt cx="1006829" cy="1006829"/>
          </a:xfrm>
        </p:grpSpPr>
        <p:pic>
          <p:nvPicPr>
            <p:cNvPr id="3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1950359" y="4071442"/>
            <a:ext cx="1006829" cy="1006829"/>
            <a:chOff x="12948672" y="1937938"/>
            <a:chExt cx="1006829" cy="1006829"/>
          </a:xfrm>
        </p:grpSpPr>
        <p:pic>
          <p:nvPicPr>
            <p:cNvPr id="3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2013205" y="5952239"/>
            <a:ext cx="1006829" cy="1006829"/>
            <a:chOff x="12948672" y="1937938"/>
            <a:chExt cx="1006829" cy="1006829"/>
          </a:xfrm>
        </p:grpSpPr>
        <p:pic>
          <p:nvPicPr>
            <p:cNvPr id="3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2013205" y="7916282"/>
            <a:ext cx="1006829" cy="1006829"/>
            <a:chOff x="12948672" y="1937938"/>
            <a:chExt cx="1006829" cy="1006829"/>
          </a:xfrm>
        </p:grpSpPr>
        <p:pic>
          <p:nvPicPr>
            <p:cNvPr id="41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04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99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BEC0AA8-021A-683F-03AA-7D666AD2CE93}"/>
              </a:ext>
            </a:extLst>
          </p:cNvPr>
          <p:cNvGrpSpPr/>
          <p:nvPr/>
        </p:nvGrpSpPr>
        <p:grpSpPr>
          <a:xfrm>
            <a:off x="0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48549-8862-37E8-B1D0-DDDD0925F732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D2F0C6-CC69-4E09-756C-F4DBEDC175D6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1349538" y="2616808"/>
            <a:ext cx="553186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발주 수정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476436" y="3143991"/>
            <a:ext cx="4338502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기존 발주 정보 불러오기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549808" y="5444856"/>
            <a:ext cx="426513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수정 시 수정 일자 생성 및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rgbClr val="8E8791"/>
                </a:solidFill>
                <a:latin typeface="+mn-ea"/>
              </a:rPr>
              <a:t>해당 거래처 최신 정보 반영</a:t>
            </a:r>
            <a:endParaRPr lang="en-US" altLang="ko-KR" sz="2000" b="1" dirty="0">
              <a:solidFill>
                <a:srgbClr val="8E8791"/>
              </a:solidFill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513" y="4073525"/>
            <a:ext cx="10697318" cy="4860925"/>
          </a:xfrm>
          <a:prstGeom prst="rect">
            <a:avLst/>
          </a:prstGeom>
        </p:spPr>
      </p:pic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758152" y="3566916"/>
            <a:ext cx="1704894" cy="12553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11785600" y="5910869"/>
            <a:ext cx="677446" cy="264046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1651000" y="4580467"/>
            <a:ext cx="10289230" cy="386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4572676" y="6327547"/>
            <a:ext cx="204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수정일자</a:t>
            </a:r>
            <a:r>
              <a:rPr lang="en-US" altLang="ko-KR" b="1" dirty="0">
                <a:solidFill>
                  <a:srgbClr val="8E8791"/>
                </a:solidFill>
              </a:rPr>
              <a:t> </a:t>
            </a:r>
            <a:r>
              <a:rPr lang="ko-KR" altLang="en-US" b="1" dirty="0">
                <a:solidFill>
                  <a:srgbClr val="8E8791"/>
                </a:solidFill>
              </a:rPr>
              <a:t>기준으로 거래처 이력</a:t>
            </a:r>
            <a:r>
              <a:rPr lang="en-US" altLang="ko-KR" b="1" dirty="0">
                <a:solidFill>
                  <a:srgbClr val="8E8791"/>
                </a:solidFill>
              </a:rPr>
              <a:t> </a:t>
            </a:r>
            <a:r>
              <a:rPr lang="ko-KR" altLang="en-US" b="1" dirty="0">
                <a:solidFill>
                  <a:srgbClr val="8E8791"/>
                </a:solidFill>
              </a:rPr>
              <a:t>정보 반영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4937" y="7276625"/>
            <a:ext cx="3510779" cy="389239"/>
          </a:xfrm>
          <a:prstGeom prst="rect">
            <a:avLst/>
          </a:prstGeom>
        </p:spPr>
      </p:pic>
      <p:grpSp>
        <p:nvGrpSpPr>
          <p:cNvPr id="24" name="그룹 23"/>
          <p:cNvGrpSpPr/>
          <p:nvPr/>
        </p:nvGrpSpPr>
        <p:grpSpPr>
          <a:xfrm>
            <a:off x="11973021" y="2999351"/>
            <a:ext cx="1006829" cy="1006829"/>
            <a:chOff x="12948672" y="1937938"/>
            <a:chExt cx="1006829" cy="1006829"/>
          </a:xfrm>
        </p:grpSpPr>
        <p:pic>
          <p:nvPicPr>
            <p:cNvPr id="2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1973021" y="5343304"/>
            <a:ext cx="1006829" cy="1006829"/>
            <a:chOff x="12948672" y="1937938"/>
            <a:chExt cx="1006829" cy="1006829"/>
          </a:xfrm>
        </p:grpSpPr>
        <p:pic>
          <p:nvPicPr>
            <p:cNvPr id="2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068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21" y="3515545"/>
            <a:ext cx="12094526" cy="5713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183121" y="2500748"/>
            <a:ext cx="4697195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재고 </a:t>
            </a:r>
            <a:r>
              <a:rPr lang="ko-KR" altLang="en-US" sz="2200" b="1" dirty="0" err="1">
                <a:solidFill>
                  <a:srgbClr val="8E8791"/>
                </a:solidFill>
              </a:rPr>
              <a:t>대분류</a:t>
            </a:r>
            <a:r>
              <a:rPr lang="ko-KR" altLang="en-US" sz="2200" b="1" dirty="0">
                <a:solidFill>
                  <a:srgbClr val="8E8791"/>
                </a:solidFill>
              </a:rPr>
              <a:t> </a:t>
            </a:r>
            <a:r>
              <a:rPr lang="ko-KR" altLang="en-US" sz="2200" b="1" dirty="0" err="1">
                <a:solidFill>
                  <a:srgbClr val="8E8791"/>
                </a:solidFill>
              </a:rPr>
              <a:t>토글버튼</a:t>
            </a:r>
            <a:r>
              <a:rPr lang="en-US" altLang="ko-KR" sz="2200" b="1" dirty="0">
                <a:solidFill>
                  <a:srgbClr val="8E8791"/>
                </a:solidFill>
              </a:rPr>
              <a:t>(</a:t>
            </a:r>
            <a:r>
              <a:rPr lang="ko-KR" altLang="en-US" sz="2200" b="1" dirty="0">
                <a:solidFill>
                  <a:srgbClr val="8E8791"/>
                </a:solidFill>
              </a:rPr>
              <a:t>부품</a:t>
            </a:r>
            <a:r>
              <a:rPr lang="en-US" altLang="ko-KR" sz="2200" b="1" dirty="0">
                <a:solidFill>
                  <a:srgbClr val="8E8791"/>
                </a:solidFill>
              </a:rPr>
              <a:t>)</a:t>
            </a:r>
            <a:endParaRPr lang="ko-KR" altLang="en-US" sz="2200" b="1" dirty="0">
              <a:solidFill>
                <a:srgbClr val="8E8791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741714" y="2856317"/>
            <a:ext cx="9973181" cy="124578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39210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부품 엑셀 다운로드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 flipV="1">
            <a:off x="12696825" y="4195763"/>
            <a:ext cx="324154" cy="8087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5341383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재고 수량 조정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2586046" y="5696952"/>
            <a:ext cx="434933" cy="3206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1349538" y="2616808"/>
            <a:ext cx="308930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재고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부품</a:t>
            </a:r>
          </a:p>
        </p:txBody>
      </p:sp>
      <p:grpSp>
        <p:nvGrpSpPr>
          <p:cNvPr id="30" name="그룹 29"/>
          <p:cNvGrpSpPr/>
          <p:nvPr/>
        </p:nvGrpSpPr>
        <p:grpSpPr>
          <a:xfrm>
            <a:off x="11623498" y="2345091"/>
            <a:ext cx="1006829" cy="1006829"/>
            <a:chOff x="12948672" y="1937938"/>
            <a:chExt cx="1006829" cy="1006829"/>
          </a:xfrm>
        </p:grpSpPr>
        <p:pic>
          <p:nvPicPr>
            <p:cNvPr id="3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2948148" y="3776425"/>
            <a:ext cx="1006829" cy="1006829"/>
            <a:chOff x="12948672" y="1937938"/>
            <a:chExt cx="1006829" cy="1006829"/>
          </a:xfrm>
        </p:grpSpPr>
        <p:pic>
          <p:nvPicPr>
            <p:cNvPr id="3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12948148" y="5193537"/>
            <a:ext cx="1006829" cy="1006829"/>
            <a:chOff x="12948672" y="1937938"/>
            <a:chExt cx="1006829" cy="1006829"/>
          </a:xfrm>
        </p:grpSpPr>
        <p:pic>
          <p:nvPicPr>
            <p:cNvPr id="4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369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90" y="3547957"/>
            <a:ext cx="12071729" cy="571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39210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제품 엑셀 다운로드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 flipV="1">
            <a:off x="12696825" y="4229100"/>
            <a:ext cx="324154" cy="4753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5341383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수량 부족 재고 강조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832280" y="5696952"/>
            <a:ext cx="1188699" cy="36198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183121" y="2500748"/>
            <a:ext cx="4697195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재고 </a:t>
            </a:r>
            <a:r>
              <a:rPr lang="ko-KR" altLang="en-US" sz="2200" b="1" dirty="0" err="1">
                <a:solidFill>
                  <a:srgbClr val="8E8791"/>
                </a:solidFill>
              </a:rPr>
              <a:t>대분류</a:t>
            </a:r>
            <a:r>
              <a:rPr lang="ko-KR" altLang="en-US" sz="2200" b="1" dirty="0">
                <a:solidFill>
                  <a:srgbClr val="8E8791"/>
                </a:solidFill>
              </a:rPr>
              <a:t> </a:t>
            </a:r>
            <a:r>
              <a:rPr lang="ko-KR" altLang="en-US" sz="2200" b="1" dirty="0" err="1">
                <a:solidFill>
                  <a:srgbClr val="8E8791"/>
                </a:solidFill>
              </a:rPr>
              <a:t>토글버튼</a:t>
            </a:r>
            <a:r>
              <a:rPr lang="en-US" altLang="ko-KR" sz="2200" b="1" dirty="0">
                <a:solidFill>
                  <a:srgbClr val="8E8791"/>
                </a:solidFill>
              </a:rPr>
              <a:t>(</a:t>
            </a:r>
            <a:r>
              <a:rPr lang="ko-KR" altLang="en-US" sz="2200" b="1" dirty="0">
                <a:solidFill>
                  <a:srgbClr val="8E8791"/>
                </a:solidFill>
              </a:rPr>
              <a:t>제품</a:t>
            </a:r>
            <a:r>
              <a:rPr lang="en-US" altLang="ko-KR" sz="2200" b="1" dirty="0">
                <a:solidFill>
                  <a:srgbClr val="8E8791"/>
                </a:solidFill>
              </a:rPr>
              <a:t>)</a:t>
            </a:r>
            <a:endParaRPr lang="ko-KR" altLang="en-US" sz="2200" b="1" dirty="0">
              <a:solidFill>
                <a:srgbClr val="8E8791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741714" y="2856317"/>
            <a:ext cx="9973181" cy="1265740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74743" y="6093893"/>
            <a:ext cx="2821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8E8791"/>
                </a:solidFill>
              </a:rPr>
              <a:t>0</a:t>
            </a:r>
            <a:r>
              <a:rPr lang="ko-KR" altLang="en-US" b="1" dirty="0">
                <a:solidFill>
                  <a:srgbClr val="8E8791"/>
                </a:solidFill>
              </a:rPr>
              <a:t>개 이하일 경우 재고 강조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9538" y="2616808"/>
            <a:ext cx="308930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재고 관리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제품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11623498" y="2345091"/>
            <a:ext cx="1006829" cy="1006829"/>
            <a:chOff x="12948672" y="1937938"/>
            <a:chExt cx="1006829" cy="1006829"/>
          </a:xfrm>
        </p:grpSpPr>
        <p:pic>
          <p:nvPicPr>
            <p:cNvPr id="33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2948148" y="3776425"/>
            <a:ext cx="1006829" cy="1006829"/>
            <a:chOff x="12948672" y="1937938"/>
            <a:chExt cx="1006829" cy="1006829"/>
          </a:xfrm>
        </p:grpSpPr>
        <p:pic>
          <p:nvPicPr>
            <p:cNvPr id="3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2948148" y="5193537"/>
            <a:ext cx="1006829" cy="1006829"/>
            <a:chOff x="12948672" y="1937938"/>
            <a:chExt cx="1006829" cy="1006829"/>
          </a:xfrm>
        </p:grpSpPr>
        <p:pic>
          <p:nvPicPr>
            <p:cNvPr id="3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03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4785320"/>
            <a:ext cx="13676312" cy="44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6927283" y="2500748"/>
            <a:ext cx="4248717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재고 관리 목록으로 이동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549400" y="3163299"/>
            <a:ext cx="5037234" cy="169064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058082" y="2503954"/>
            <a:ext cx="4845617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재고 조정 근거 첨부 파일 등록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549400" y="3166505"/>
            <a:ext cx="10168034" cy="46693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058082" y="3722384"/>
            <a:ext cx="4845617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조정 수량으로 재고 조정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7696200" y="4512091"/>
            <a:ext cx="4329233" cy="405088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349538" y="2616808"/>
            <a:ext cx="2310248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재고 조정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6396187" y="2345091"/>
            <a:ext cx="1006829" cy="1006829"/>
            <a:chOff x="12948672" y="1937938"/>
            <a:chExt cx="1006829" cy="1006829"/>
          </a:xfrm>
        </p:grpSpPr>
        <p:pic>
          <p:nvPicPr>
            <p:cNvPr id="26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1554667" y="2409241"/>
            <a:ext cx="1006829" cy="1006829"/>
            <a:chOff x="12948672" y="1937938"/>
            <a:chExt cx="1006829" cy="1006829"/>
          </a:xfrm>
        </p:grpSpPr>
        <p:pic>
          <p:nvPicPr>
            <p:cNvPr id="34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11554666" y="3577744"/>
            <a:ext cx="1006829" cy="1006829"/>
            <a:chOff x="12948672" y="1937938"/>
            <a:chExt cx="1006829" cy="1006829"/>
          </a:xfrm>
        </p:grpSpPr>
        <p:pic>
          <p:nvPicPr>
            <p:cNvPr id="4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475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66" y="4141211"/>
            <a:ext cx="12094934" cy="509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2362200" y="3163299"/>
            <a:ext cx="3041372" cy="1904001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5744221" y="2500748"/>
            <a:ext cx="356487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재고 입출고 분류</a:t>
            </a:r>
            <a:endParaRPr lang="en-US" altLang="ko-KR" sz="2200" b="1" dirty="0">
              <a:solidFill>
                <a:srgbClr val="8E879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29759" y="3252355"/>
            <a:ext cx="501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수주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수주취소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발주</a:t>
            </a:r>
            <a:r>
              <a:rPr lang="en-US" altLang="ko-KR" b="1" dirty="0">
                <a:solidFill>
                  <a:srgbClr val="8E8791"/>
                </a:solidFill>
              </a:rPr>
              <a:t>,</a:t>
            </a:r>
            <a:r>
              <a:rPr lang="ko-KR" altLang="en-US" b="1" dirty="0">
                <a:solidFill>
                  <a:srgbClr val="8E8791"/>
                </a:solidFill>
              </a:rPr>
              <a:t> 발주취소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제조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분해</a:t>
            </a:r>
            <a:r>
              <a:rPr lang="en-US" altLang="ko-KR" b="1" dirty="0">
                <a:solidFill>
                  <a:srgbClr val="8E8791"/>
                </a:solidFill>
              </a:rPr>
              <a:t>, </a:t>
            </a:r>
            <a:r>
              <a:rPr lang="ko-KR" altLang="en-US" b="1" dirty="0">
                <a:solidFill>
                  <a:srgbClr val="8E8791"/>
                </a:solidFill>
              </a:rPr>
              <a:t>조정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2373621" y="2500254"/>
            <a:ext cx="451737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>
                <a:solidFill>
                  <a:srgbClr val="8E8791"/>
                </a:solidFill>
              </a:rPr>
              <a:t>재고 변동 수량과 </a:t>
            </a:r>
            <a:r>
              <a:rPr lang="ko-KR" altLang="en-US" sz="2200" b="1" dirty="0" err="1">
                <a:solidFill>
                  <a:srgbClr val="8E8791"/>
                </a:solidFill>
              </a:rPr>
              <a:t>현수량</a:t>
            </a:r>
            <a:endParaRPr lang="en-US" altLang="ko-KR" sz="2200" b="1" dirty="0">
              <a:solidFill>
                <a:srgbClr val="8E879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8610601" y="3162805"/>
            <a:ext cx="3422371" cy="19044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39210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재고 조정 첨부파일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2340969" y="4710772"/>
            <a:ext cx="1115586" cy="766103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1349538" y="2616808"/>
            <a:ext cx="280076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입출고 이력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5240806" y="2356108"/>
            <a:ext cx="1006829" cy="1006829"/>
            <a:chOff x="12948672" y="1937938"/>
            <a:chExt cx="1006829" cy="1006829"/>
          </a:xfrm>
        </p:grpSpPr>
        <p:pic>
          <p:nvPicPr>
            <p:cNvPr id="3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1870206" y="2371777"/>
            <a:ext cx="1006829" cy="1006829"/>
            <a:chOff x="12948672" y="1937938"/>
            <a:chExt cx="1006829" cy="1006829"/>
          </a:xfrm>
        </p:grpSpPr>
        <p:pic>
          <p:nvPicPr>
            <p:cNvPr id="3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2985791" y="3776425"/>
            <a:ext cx="1006829" cy="1006829"/>
            <a:chOff x="12948672" y="1937938"/>
            <a:chExt cx="1006829" cy="1006829"/>
          </a:xfrm>
        </p:grpSpPr>
        <p:pic>
          <p:nvPicPr>
            <p:cNvPr id="38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284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41" y="4235450"/>
            <a:ext cx="11838985" cy="4994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>
            <a:off x="8530971" y="3290455"/>
            <a:ext cx="223563" cy="14529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8563621" y="2500748"/>
            <a:ext cx="356487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err="1">
                <a:solidFill>
                  <a:srgbClr val="8E8791"/>
                </a:solidFill>
              </a:rPr>
              <a:t>월마감</a:t>
            </a:r>
            <a:r>
              <a:rPr lang="ko-KR" altLang="en-US" sz="2200" b="1" dirty="0">
                <a:solidFill>
                  <a:srgbClr val="8E8791"/>
                </a:solidFill>
              </a:rPr>
              <a:t> 기간별 조회</a:t>
            </a:r>
            <a:endParaRPr lang="en-US" altLang="ko-KR" sz="2200" b="1" dirty="0">
              <a:solidFill>
                <a:srgbClr val="8E879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49159" y="3252355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기본 </a:t>
            </a:r>
            <a:r>
              <a:rPr lang="en-US" altLang="ko-KR" b="1" dirty="0">
                <a:solidFill>
                  <a:srgbClr val="8E8791"/>
                </a:solidFill>
              </a:rPr>
              <a:t>1</a:t>
            </a:r>
            <a:r>
              <a:rPr lang="ko-KR" altLang="en-US" b="1" dirty="0">
                <a:solidFill>
                  <a:srgbClr val="8E8791"/>
                </a:solidFill>
              </a:rPr>
              <a:t>개월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503921" y="2500254"/>
            <a:ext cx="336167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err="1">
                <a:solidFill>
                  <a:srgbClr val="8E8791"/>
                </a:solidFill>
              </a:rPr>
              <a:t>월마감</a:t>
            </a:r>
            <a:r>
              <a:rPr lang="ko-KR" altLang="en-US" sz="2200" b="1" dirty="0">
                <a:solidFill>
                  <a:srgbClr val="8E8791"/>
                </a:solidFill>
              </a:rPr>
              <a:t> 취소 기능</a:t>
            </a:r>
            <a:endParaRPr lang="en-US" altLang="ko-KR" sz="2200" b="1" dirty="0">
              <a:solidFill>
                <a:srgbClr val="8E879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1704320" y="3162805"/>
            <a:ext cx="1458952" cy="117297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789459" y="3289961"/>
            <a:ext cx="2420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당월 </a:t>
            </a:r>
            <a:r>
              <a:rPr lang="ko-KR" altLang="en-US" b="1" dirty="0" err="1">
                <a:solidFill>
                  <a:srgbClr val="8E8791"/>
                </a:solidFill>
              </a:rPr>
              <a:t>월마감</a:t>
            </a:r>
            <a:r>
              <a:rPr lang="ko-KR" altLang="en-US" b="1" dirty="0">
                <a:solidFill>
                  <a:srgbClr val="8E8791"/>
                </a:solidFill>
              </a:rPr>
              <a:t> 삭제 후 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전일 기준 </a:t>
            </a:r>
            <a:r>
              <a:rPr lang="ko-KR" altLang="en-US" b="1" dirty="0" err="1">
                <a:solidFill>
                  <a:srgbClr val="8E8791"/>
                </a:solidFill>
              </a:rPr>
              <a:t>월마감</a:t>
            </a:r>
            <a:r>
              <a:rPr lang="ko-KR" altLang="en-US" b="1" dirty="0">
                <a:solidFill>
                  <a:srgbClr val="8E8791"/>
                </a:solidFill>
              </a:rPr>
              <a:t> 진행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46449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err="1">
                <a:solidFill>
                  <a:srgbClr val="8E8791"/>
                </a:solidFill>
              </a:rPr>
              <a:t>월마감</a:t>
            </a:r>
            <a:r>
              <a:rPr lang="ko-KR" altLang="en-US" sz="2200" b="1" dirty="0">
                <a:solidFill>
                  <a:srgbClr val="8E8791"/>
                </a:solidFill>
              </a:rPr>
              <a:t> 기능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 flipV="1">
            <a:off x="12433796" y="4566396"/>
            <a:ext cx="587183" cy="434138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789459" y="5434672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금일 기준 </a:t>
            </a:r>
            <a:r>
              <a:rPr lang="ko-KR" altLang="en-US" b="1" dirty="0" err="1">
                <a:solidFill>
                  <a:srgbClr val="8E8791"/>
                </a:solidFill>
              </a:rPr>
              <a:t>월마감</a:t>
            </a:r>
            <a:r>
              <a:rPr lang="ko-KR" altLang="en-US" b="1" dirty="0">
                <a:solidFill>
                  <a:srgbClr val="8E8791"/>
                </a:solidFill>
              </a:rPr>
              <a:t> 진행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349538" y="2616808"/>
            <a:ext cx="2800767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월마감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이력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8027556" y="2384038"/>
            <a:ext cx="1006829" cy="1006829"/>
            <a:chOff x="12948672" y="1937938"/>
            <a:chExt cx="1006829" cy="1006829"/>
          </a:xfrm>
        </p:grpSpPr>
        <p:pic>
          <p:nvPicPr>
            <p:cNvPr id="3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2985791" y="2356108"/>
            <a:ext cx="1006829" cy="1006829"/>
            <a:chOff x="12948672" y="1937938"/>
            <a:chExt cx="1006829" cy="1006829"/>
          </a:xfrm>
        </p:grpSpPr>
        <p:pic>
          <p:nvPicPr>
            <p:cNvPr id="35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2985791" y="4500325"/>
            <a:ext cx="1006829" cy="1006829"/>
            <a:chOff x="12948672" y="1937938"/>
            <a:chExt cx="1006829" cy="1006829"/>
          </a:xfrm>
        </p:grpSpPr>
        <p:pic>
          <p:nvPicPr>
            <p:cNvPr id="4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03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336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448549-8862-37E8-B1D0-DDDD0925F732}"/>
              </a:ext>
            </a:extLst>
          </p:cNvPr>
          <p:cNvSpPr/>
          <p:nvPr/>
        </p:nvSpPr>
        <p:spPr>
          <a:xfrm>
            <a:off x="2810934" y="1049549"/>
            <a:ext cx="11887200" cy="7289800"/>
          </a:xfrm>
          <a:prstGeom prst="rect">
            <a:avLst/>
          </a:prstGeom>
          <a:solidFill>
            <a:srgbClr val="0110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AD2F0C6-CC69-4E09-756C-F4DBEDC175D6}"/>
              </a:ext>
            </a:extLst>
          </p:cNvPr>
          <p:cNvSpPr/>
          <p:nvPr/>
        </p:nvSpPr>
        <p:spPr>
          <a:xfrm>
            <a:off x="637381" y="1866901"/>
            <a:ext cx="16313203" cy="7446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35" y="4469956"/>
            <a:ext cx="11212966" cy="4739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601" y="5942893"/>
            <a:ext cx="3733799" cy="2271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4343400" y="3162805"/>
            <a:ext cx="8819872" cy="4038095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503921" y="2500254"/>
            <a:ext cx="3361679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8E8791"/>
                </a:solidFill>
              </a:rPr>
              <a:t>권한</a:t>
            </a:r>
            <a:r>
              <a:rPr lang="en-US" altLang="ko-KR" sz="2200" b="1" dirty="0">
                <a:solidFill>
                  <a:srgbClr val="8E8791"/>
                </a:solidFill>
              </a:rPr>
              <a:t>/</a:t>
            </a:r>
            <a:r>
              <a:rPr lang="ko-KR" altLang="en-US" sz="2200" b="1" dirty="0">
                <a:solidFill>
                  <a:srgbClr val="8E8791"/>
                </a:solidFill>
              </a:rPr>
              <a:t>보안 확인</a:t>
            </a:r>
            <a:endParaRPr lang="en-US" altLang="ko-KR" sz="2200" b="1" dirty="0">
              <a:solidFill>
                <a:srgbClr val="8E879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89459" y="3289961"/>
            <a:ext cx="2084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8E8791"/>
                </a:solidFill>
              </a:rPr>
              <a:t>로그인한 사용자의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>
                <a:solidFill>
                  <a:srgbClr val="8E8791"/>
                </a:solidFill>
              </a:rPr>
              <a:t>비밀번호 확인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269048-5426-9E48-CB91-312AE01BA921}"/>
              </a:ext>
            </a:extLst>
          </p:cNvPr>
          <p:cNvSpPr/>
          <p:nvPr/>
        </p:nvSpPr>
        <p:spPr>
          <a:xfrm>
            <a:off x="13489206" y="4644965"/>
            <a:ext cx="3391110" cy="717550"/>
          </a:xfrm>
          <a:prstGeom prst="rect">
            <a:avLst/>
          </a:prstGeom>
          <a:solidFill>
            <a:srgbClr val="EFEFE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err="1">
                <a:solidFill>
                  <a:srgbClr val="8E8791"/>
                </a:solidFill>
              </a:rPr>
              <a:t>가마감</a:t>
            </a:r>
            <a:r>
              <a:rPr lang="en-US" altLang="ko-KR" sz="2200" b="1" dirty="0">
                <a:solidFill>
                  <a:srgbClr val="8E8791"/>
                </a:solidFill>
              </a:rPr>
              <a:t>/</a:t>
            </a:r>
            <a:r>
              <a:rPr lang="ko-KR" altLang="en-US" sz="2200" b="1" dirty="0" err="1">
                <a:solidFill>
                  <a:srgbClr val="8E8791"/>
                </a:solidFill>
              </a:rPr>
              <a:t>월마감</a:t>
            </a:r>
            <a:r>
              <a:rPr lang="ko-KR" altLang="en-US" sz="2200" b="1" dirty="0">
                <a:solidFill>
                  <a:srgbClr val="8E8791"/>
                </a:solidFill>
              </a:rPr>
              <a:t> 기능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89459" y="5434672"/>
            <a:ext cx="2254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rgbClr val="8E8791"/>
                </a:solidFill>
              </a:rPr>
              <a:t>가마감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r>
              <a:rPr lang="en-US" altLang="ko-KR" b="1" dirty="0">
                <a:solidFill>
                  <a:srgbClr val="8E8791"/>
                </a:solidFill>
              </a:rPr>
              <a:t>: </a:t>
            </a:r>
            <a:r>
              <a:rPr lang="ko-KR" altLang="en-US" b="1" dirty="0">
                <a:solidFill>
                  <a:srgbClr val="8E8791"/>
                </a:solidFill>
              </a:rPr>
              <a:t>내부 점검용</a:t>
            </a:r>
            <a:endParaRPr lang="en-US" altLang="ko-KR" b="1" dirty="0">
              <a:solidFill>
                <a:srgbClr val="8E8791"/>
              </a:solidFill>
            </a:endParaRPr>
          </a:p>
          <a:p>
            <a:r>
              <a:rPr lang="ko-KR" altLang="en-US" b="1" dirty="0" err="1">
                <a:solidFill>
                  <a:srgbClr val="8E8791"/>
                </a:solidFill>
              </a:rPr>
              <a:t>월마감</a:t>
            </a:r>
            <a:r>
              <a:rPr lang="ko-KR" altLang="en-US" b="1" dirty="0">
                <a:solidFill>
                  <a:srgbClr val="8E8791"/>
                </a:solidFill>
              </a:rPr>
              <a:t> </a:t>
            </a:r>
            <a:r>
              <a:rPr lang="en-US" altLang="ko-KR" b="1" dirty="0">
                <a:solidFill>
                  <a:srgbClr val="8E8791"/>
                </a:solidFill>
              </a:rPr>
              <a:t>: </a:t>
            </a:r>
            <a:r>
              <a:rPr lang="ko-KR" altLang="en-US" b="1" dirty="0">
                <a:solidFill>
                  <a:srgbClr val="8E8791"/>
                </a:solidFill>
              </a:rPr>
              <a:t>최종 확정용</a:t>
            </a:r>
            <a:endParaRPr lang="en-US" altLang="ko-KR" b="1" dirty="0">
              <a:solidFill>
                <a:srgbClr val="8E8791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2A83C5B-5BFD-5775-2A86-6FE422C41732}"/>
              </a:ext>
            </a:extLst>
          </p:cNvPr>
          <p:cNvCxnSpPr/>
          <p:nvPr/>
        </p:nvCxnSpPr>
        <p:spPr>
          <a:xfrm flipH="1">
            <a:off x="10105886" y="5307516"/>
            <a:ext cx="3042670" cy="2401384"/>
          </a:xfrm>
          <a:prstGeom prst="line">
            <a:avLst/>
          </a:prstGeom>
          <a:ln w="38100">
            <a:solidFill>
              <a:srgbClr val="949494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1349538" y="2616808"/>
            <a:ext cx="3887603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9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월마감</a:t>
            </a:r>
            <a:r>
              <a:rPr lang="ko-KR" altLang="en-US" sz="39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이력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월마감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13000506" y="2355614"/>
            <a:ext cx="1006829" cy="1006829"/>
            <a:chOff x="12948672" y="1937938"/>
            <a:chExt cx="1006829" cy="1006829"/>
          </a:xfrm>
        </p:grpSpPr>
        <p:pic>
          <p:nvPicPr>
            <p:cNvPr id="29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01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13010726" y="4513751"/>
            <a:ext cx="1006829" cy="1006829"/>
            <a:chOff x="12948672" y="1937938"/>
            <a:chExt cx="1006829" cy="1006829"/>
          </a:xfrm>
        </p:grpSpPr>
        <p:pic>
          <p:nvPicPr>
            <p:cNvPr id="32" name="Picture 10" descr="C:\Users\user\Downloads\free-icon-laptop-6611269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48672" y="1937938"/>
              <a:ext cx="1006829" cy="1006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3157209" y="2043838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HY견고딕" pitchFamily="18" charset="-127"/>
                  <a:ea typeface="HY견고딕" pitchFamily="18" charset="-127"/>
                </a:rPr>
                <a:t>02</a:t>
              </a:r>
              <a:endParaRPr lang="ko-KR" altLang="en-US" sz="2400" b="1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170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80CA-F959-B1FF-B66D-26926EA8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D72EB34-9864-A64E-2433-F1BD95FF4F6F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F6632176-9D19-35D8-7822-73CE1AA14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1A2A3DD-5C74-2507-9BEC-D37386104D15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41C37B-AE80-8AAC-E3AF-1F8AA5D091BD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3B99EB-C981-3CC2-0740-6786AD81CF7B}"/>
              </a:ext>
            </a:extLst>
          </p:cNvPr>
          <p:cNvSpPr/>
          <p:nvPr/>
        </p:nvSpPr>
        <p:spPr>
          <a:xfrm>
            <a:off x="3268133" y="463973"/>
            <a:ext cx="5837767" cy="398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 err="1" smtClean="0"/>
              <a:t>기능정의서</a:t>
            </a:r>
            <a:r>
              <a:rPr lang="ko-KR" altLang="en-US" sz="2200" b="1" dirty="0" smtClean="0"/>
              <a:t>    </a:t>
            </a:r>
            <a:r>
              <a:rPr lang="en-US" altLang="ko-KR" sz="2000" dirty="0"/>
              <a:t>Functional Specification </a:t>
            </a:r>
            <a:r>
              <a:rPr lang="en-US" altLang="ko-KR" sz="2000" dirty="0" smtClean="0"/>
              <a:t>Document</a:t>
            </a:r>
            <a:endParaRPr lang="ko-KR" altLang="en-US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63" y="1892301"/>
            <a:ext cx="16313203" cy="739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5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80CA-F959-B1FF-B66D-26926EA8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D72EB34-9864-A64E-2433-F1BD95FF4F6F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F6632176-9D19-35D8-7822-73CE1AA14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1A2A3DD-5C74-2507-9BEC-D37386104D15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41C37B-AE80-8AAC-E3AF-1F8AA5D091BD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3B99EB-C981-3CC2-0740-6786AD81CF7B}"/>
              </a:ext>
            </a:extLst>
          </p:cNvPr>
          <p:cNvSpPr/>
          <p:nvPr/>
        </p:nvSpPr>
        <p:spPr>
          <a:xfrm>
            <a:off x="3268133" y="463973"/>
            <a:ext cx="5837767" cy="398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 err="1" smtClean="0"/>
              <a:t>기능정의서</a:t>
            </a:r>
            <a:r>
              <a:rPr lang="ko-KR" altLang="en-US" sz="2200" b="1" dirty="0" smtClean="0"/>
              <a:t>    </a:t>
            </a:r>
            <a:r>
              <a:rPr lang="en-US" altLang="ko-KR" sz="2000" dirty="0"/>
              <a:t>Functional Specification </a:t>
            </a:r>
            <a:r>
              <a:rPr lang="en-US" altLang="ko-KR" sz="2000" dirty="0" smtClean="0"/>
              <a:t>Document</a:t>
            </a:r>
            <a:endParaRPr lang="ko-KR" altLang="en-US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l="221" t="936" r="-1"/>
          <a:stretch/>
        </p:blipFill>
        <p:spPr>
          <a:xfrm>
            <a:off x="637064" y="1892300"/>
            <a:ext cx="16313202" cy="733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3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80CA-F959-B1FF-B66D-26926EA8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D72EB34-9864-A64E-2433-F1BD95FF4F6F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F6632176-9D19-35D8-7822-73CE1AA14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1A2A3DD-5C74-2507-9BEC-D37386104D15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41C37B-AE80-8AAC-E3AF-1F8AA5D091BD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3B99EB-C981-3CC2-0740-6786AD81CF7B}"/>
              </a:ext>
            </a:extLst>
          </p:cNvPr>
          <p:cNvSpPr/>
          <p:nvPr/>
        </p:nvSpPr>
        <p:spPr>
          <a:xfrm>
            <a:off x="3268133" y="463973"/>
            <a:ext cx="5837767" cy="398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 err="1" smtClean="0"/>
              <a:t>기능정의서</a:t>
            </a:r>
            <a:r>
              <a:rPr lang="ko-KR" altLang="en-US" sz="2200" b="1" dirty="0" smtClean="0"/>
              <a:t>    </a:t>
            </a:r>
            <a:r>
              <a:rPr lang="en-US" altLang="ko-KR" sz="2000" dirty="0"/>
              <a:t>Functional Specification </a:t>
            </a:r>
            <a:r>
              <a:rPr lang="en-US" altLang="ko-KR" sz="2000" dirty="0" smtClean="0"/>
              <a:t>Document</a:t>
            </a:r>
            <a:endParaRPr lang="ko-KR" altLang="en-US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rcRect l="221" t="861"/>
          <a:stretch/>
        </p:blipFill>
        <p:spPr>
          <a:xfrm>
            <a:off x="647699" y="1892299"/>
            <a:ext cx="16302567" cy="731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3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80CA-F959-B1FF-B66D-26926EA8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D72EB34-9864-A64E-2433-F1BD95FF4F6F}"/>
              </a:ext>
            </a:extLst>
          </p:cNvPr>
          <p:cNvGrpSpPr/>
          <p:nvPr/>
        </p:nvGrpSpPr>
        <p:grpSpPr>
          <a:xfrm>
            <a:off x="-317" y="0"/>
            <a:ext cx="17556480" cy="9875520"/>
            <a:chOff x="0" y="318"/>
            <a:chExt cx="17556480" cy="9875520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F6632176-9D19-35D8-7822-73CE1AA14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18"/>
              <a:ext cx="17556480" cy="987552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1A2A3DD-5C74-2507-9BEC-D37386104D15}"/>
                </a:ext>
              </a:extLst>
            </p:cNvPr>
            <p:cNvSpPr/>
            <p:nvPr/>
          </p:nvSpPr>
          <p:spPr>
            <a:xfrm>
              <a:off x="2810934" y="1049867"/>
              <a:ext cx="11887200" cy="7289800"/>
            </a:xfrm>
            <a:prstGeom prst="rect">
              <a:avLst/>
            </a:prstGeom>
            <a:solidFill>
              <a:srgbClr val="0110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41C37B-AE80-8AAC-E3AF-1F8AA5D091BD}"/>
                </a:ext>
              </a:extLst>
            </p:cNvPr>
            <p:cNvSpPr/>
            <p:nvPr/>
          </p:nvSpPr>
          <p:spPr>
            <a:xfrm>
              <a:off x="637381" y="1867219"/>
              <a:ext cx="16313203" cy="74461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3B99EB-C981-3CC2-0740-6786AD81CF7B}"/>
              </a:ext>
            </a:extLst>
          </p:cNvPr>
          <p:cNvSpPr/>
          <p:nvPr/>
        </p:nvSpPr>
        <p:spPr>
          <a:xfrm>
            <a:off x="3268133" y="463973"/>
            <a:ext cx="5837767" cy="398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 err="1" smtClean="0"/>
              <a:t>기능정의서</a:t>
            </a:r>
            <a:r>
              <a:rPr lang="ko-KR" altLang="en-US" sz="2200" b="1" dirty="0" smtClean="0"/>
              <a:t>    </a:t>
            </a:r>
            <a:r>
              <a:rPr lang="en-US" altLang="ko-KR" sz="2000" dirty="0"/>
              <a:t>Functional Specification </a:t>
            </a:r>
            <a:r>
              <a:rPr lang="en-US" altLang="ko-KR" sz="2000" dirty="0" smtClean="0"/>
              <a:t>Document</a:t>
            </a:r>
            <a:endParaRPr lang="ko-KR" altLang="en-US" sz="2000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63" y="1886605"/>
            <a:ext cx="16313203" cy="740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4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9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1468</Words>
  <Application>Microsoft Office PowerPoint</Application>
  <PresentationFormat>사용자 지정</PresentationFormat>
  <Paragraphs>461</Paragraphs>
  <Slides>60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7" baseType="lpstr">
      <vt:lpstr>HY견고딕</vt:lpstr>
      <vt:lpstr>ㄱ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제작발표자료</dc:title>
  <dc:subject>Presentation</dc:subject>
  <dc:creator>mangoboard.net_49757783</dc:creator>
  <cp:lastModifiedBy>LG</cp:lastModifiedBy>
  <cp:revision>164</cp:revision>
  <dcterms:created xsi:type="dcterms:W3CDTF">2025-07-24T05:50:14Z</dcterms:created>
  <dcterms:modified xsi:type="dcterms:W3CDTF">2025-08-28T16:29:59Z</dcterms:modified>
</cp:coreProperties>
</file>