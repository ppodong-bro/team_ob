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86" r:id="rId2"/>
    <p:sldId id="287" r:id="rId3"/>
    <p:sldId id="279" r:id="rId4"/>
    <p:sldId id="288" r:id="rId5"/>
    <p:sldId id="289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285" r:id="rId36"/>
    <p:sldId id="280" r:id="rId37"/>
    <p:sldId id="281" r:id="rId38"/>
    <p:sldId id="282" r:id="rId39"/>
    <p:sldId id="283" r:id="rId40"/>
    <p:sldId id="284" r:id="rId41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48" y="-240"/>
      </p:cViewPr>
      <p:guideLst>
        <p:guide orient="horz" pos="3118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43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B2B2A8-1236-3594-98B8-9DCA4BE0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C7BF93D-34F1-2FB0-8955-6D1173D76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9DF8A5A-57E2-4E2B-6FFD-AAD128F6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E813B06-EB21-80D3-C69A-393ECCC23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42A7C9-231F-3DBB-30CD-849A9675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72F464C-EC15-CB3B-D5C4-29C9A2230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DBBA434-3FC7-08E7-958E-4AF8AEE69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15A4E9A-B4FE-CF7E-656B-E37DBD28B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99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764974-E0E0-C079-7274-5F5227AA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6F7D31A-B73C-3829-37E7-184F37609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FBBB77B-50B4-36C4-4665-440B787D9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C116E29-18BC-8EE3-91EC-19BEC077C3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0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229EAC5-D876-B5ED-CDD3-D950D53A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A5D4E66-16BD-0313-5BA4-6DF2F6404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258FC88-5BBF-935E-4349-EFCEF7C4A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8FFBD5E-37E1-554F-AB9E-6CB90EE4A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9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17E918-945A-23BA-FB8E-900271A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746E6CC-D3C4-3A40-7675-AAF124075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200969A-5600-7CB0-43E9-B4C1EAEE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5FCDDA-F41E-AAD4-19A4-52C948D6E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6A0B2D-267B-E566-1B6F-2D0D6BCB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6D5E44A-8EFC-00E8-3245-442EEF206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1D06A8B-28BF-4787-AB19-D64DF4A10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2FEE2AC-501B-9B5F-3F0D-44874BB4F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7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7F251F-6628-0357-09CE-AE62BDB0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07616AA-3D63-6748-55E1-0635A37D3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DC79E61-C3A7-C87F-1EF0-8AFF78383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4A260E0-FEE4-9E2E-92CC-253D4991E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85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25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5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01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62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9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6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99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32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29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64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50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78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45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128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192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638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643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4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456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2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23"/>
          <a:stretch/>
        </p:blipFill>
        <p:spPr bwMode="auto">
          <a:xfrm>
            <a:off x="1131765" y="3413363"/>
            <a:ext cx="2094730" cy="5713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740"/>
          <a:stretch/>
        </p:blipFill>
        <p:spPr bwMode="auto">
          <a:xfrm>
            <a:off x="8781415" y="3341914"/>
            <a:ext cx="1440332" cy="578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38"/>
          <a:stretch/>
        </p:blipFill>
        <p:spPr bwMode="auto">
          <a:xfrm>
            <a:off x="4955140" y="3354935"/>
            <a:ext cx="2295410" cy="5772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2000996"/>
            <a:ext cx="3859337" cy="868276"/>
            <a:chOff x="4384082" y="4490256"/>
            <a:chExt cx="3859337" cy="868276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로고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5196166"/>
            <a:ext cx="3859337" cy="868276"/>
            <a:chOff x="4384082" y="4490256"/>
            <a:chExt cx="3859337" cy="868276"/>
          </a:xfrm>
        </p:grpSpPr>
        <p:sp>
          <p:nvSpPr>
            <p:cNvPr id="32" name="직사각형 31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err="1">
                  <a:solidFill>
                    <a:srgbClr val="8E8791"/>
                  </a:solidFill>
                </a:rPr>
                <a:t>사이드바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 축소</a:t>
              </a:r>
              <a:r>
                <a:rPr lang="en-US" altLang="ko-KR" sz="2200" b="1" dirty="0">
                  <a:solidFill>
                    <a:srgbClr val="8E8791"/>
                  </a:solidFill>
                </a:rPr>
                <a:t>/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확대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3598581"/>
            <a:ext cx="3859337" cy="868276"/>
            <a:chOff x="4384082" y="4490256"/>
            <a:chExt cx="3859337" cy="868276"/>
          </a:xfrm>
        </p:grpSpPr>
        <p:sp>
          <p:nvSpPr>
            <p:cNvPr id="37" name="직사각형 36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상위항목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5" name="직선 연결선 34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3" idx="2"/>
          </p:cNvCxnSpPr>
          <p:nvPr/>
        </p:nvCxnSpPr>
        <p:spPr>
          <a:xfrm flipH="1">
            <a:off x="9398000" y="5630304"/>
            <a:ext cx="3622979" cy="58921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8" idx="2"/>
          </p:cNvCxnSpPr>
          <p:nvPr/>
        </p:nvCxnSpPr>
        <p:spPr>
          <a:xfrm flipH="1">
            <a:off x="6223000" y="4032719"/>
            <a:ext cx="6797979" cy="3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>
            <a:off x="2438400" y="2435134"/>
            <a:ext cx="10582579" cy="116344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773958" y="2867165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로고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선택시</a:t>
            </a:r>
            <a:r>
              <a:rPr lang="ko-KR" altLang="en-US" b="1" dirty="0" smtClean="0">
                <a:solidFill>
                  <a:srgbClr val="8E8791"/>
                </a:solidFill>
              </a:rPr>
              <a:t>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메인페이지</a:t>
            </a:r>
            <a:r>
              <a:rPr lang="ko-KR" altLang="en-US" b="1" dirty="0" smtClean="0">
                <a:solidFill>
                  <a:srgbClr val="8E8791"/>
                </a:solidFill>
              </a:rPr>
              <a:t> 이동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74743" y="4466857"/>
            <a:ext cx="2137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상위 항목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선택시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하위 항목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드롭다운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775528" y="6066549"/>
            <a:ext cx="2829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항목 아이콘화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err="1" smtClean="0">
                <a:solidFill>
                  <a:srgbClr val="8E8791"/>
                </a:solidFill>
              </a:rPr>
              <a:t>선택시</a:t>
            </a:r>
            <a:r>
              <a:rPr lang="ko-KR" altLang="en-US" b="1" dirty="0" smtClean="0">
                <a:solidFill>
                  <a:srgbClr val="8E8791"/>
                </a:solidFill>
              </a:rPr>
              <a:t> 대표페이지로 이동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>
            <a:off x="9144000" y="2435134"/>
            <a:ext cx="3876979" cy="101926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1349538" y="2616808"/>
            <a:ext cx="403187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사이드바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893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42" y="3510166"/>
            <a:ext cx="11552645" cy="5670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2000996"/>
            <a:ext cx="3859337" cy="868276"/>
            <a:chOff x="4384082" y="4490256"/>
            <a:chExt cx="3859337" cy="868276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프로필 아이콘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5196166"/>
            <a:ext cx="3859337" cy="868276"/>
            <a:chOff x="4384082" y="4490256"/>
            <a:chExt cx="3859337" cy="868276"/>
          </a:xfrm>
        </p:grpSpPr>
        <p:sp>
          <p:nvSpPr>
            <p:cNvPr id="32" name="직사각형 31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로그아웃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3598581"/>
            <a:ext cx="3859337" cy="868276"/>
            <a:chOff x="4384082" y="4490256"/>
            <a:chExt cx="3859337" cy="868276"/>
          </a:xfrm>
        </p:grpSpPr>
        <p:sp>
          <p:nvSpPr>
            <p:cNvPr id="37" name="직사각형 36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프로필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5" name="직선 연결선 34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3" idx="2"/>
          </p:cNvCxnSpPr>
          <p:nvPr/>
        </p:nvCxnSpPr>
        <p:spPr>
          <a:xfrm flipH="1" flipV="1">
            <a:off x="12472988" y="4694449"/>
            <a:ext cx="547991" cy="93585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>
            <a:off x="12549188" y="2435134"/>
            <a:ext cx="471791" cy="107503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773958" y="2867165"/>
            <a:ext cx="3344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프로필 아이콘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선택시</a:t>
            </a:r>
            <a:r>
              <a:rPr lang="ko-KR" altLang="en-US" b="1" dirty="0" smtClean="0">
                <a:solidFill>
                  <a:srgbClr val="8E8791"/>
                </a:solidFill>
              </a:rPr>
              <a:t>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드롭다운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74743" y="4466857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로그인한 사용자의 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프로필 페이지로 이동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775528" y="6066549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로그아웃 후 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로그인 페이지로 이동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8" idx="2"/>
          </p:cNvCxnSpPr>
          <p:nvPr/>
        </p:nvCxnSpPr>
        <p:spPr>
          <a:xfrm flipH="1">
            <a:off x="12472988" y="4032719"/>
            <a:ext cx="547991" cy="25217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6923137"/>
            <a:ext cx="3859337" cy="868276"/>
            <a:chOff x="4384082" y="4490256"/>
            <a:chExt cx="3859337" cy="868276"/>
          </a:xfrm>
        </p:grpSpPr>
        <p:sp>
          <p:nvSpPr>
            <p:cNvPr id="42" name="직사각형 41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회사 정보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3775528" y="7793520"/>
            <a:ext cx="3177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대표자 </a:t>
            </a:r>
            <a:r>
              <a:rPr lang="en-US" altLang="ko-KR" b="1" dirty="0" smtClean="0">
                <a:solidFill>
                  <a:srgbClr val="8E8791"/>
                </a:solidFill>
              </a:rPr>
              <a:t>: </a:t>
            </a:r>
            <a:r>
              <a:rPr lang="ko-KR" altLang="en-US" b="1" dirty="0" smtClean="0">
                <a:solidFill>
                  <a:srgbClr val="8E8791"/>
                </a:solidFill>
              </a:rPr>
              <a:t>영업본부 부서장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국내문의 </a:t>
            </a:r>
            <a:r>
              <a:rPr lang="en-US" altLang="ko-KR" b="1" dirty="0" smtClean="0">
                <a:solidFill>
                  <a:srgbClr val="8E8791"/>
                </a:solidFill>
              </a:rPr>
              <a:t>: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국내영업팀</a:t>
            </a:r>
            <a:r>
              <a:rPr lang="ko-KR" altLang="en-US" b="1" dirty="0" smtClean="0">
                <a:solidFill>
                  <a:srgbClr val="8E8791"/>
                </a:solidFill>
              </a:rPr>
              <a:t> 부서장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해외문의 </a:t>
            </a:r>
            <a:r>
              <a:rPr lang="en-US" altLang="ko-KR" b="1" dirty="0" smtClean="0">
                <a:solidFill>
                  <a:srgbClr val="8E8791"/>
                </a:solidFill>
              </a:rPr>
              <a:t>: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해외영업팀</a:t>
            </a:r>
            <a:r>
              <a:rPr lang="ko-KR" altLang="en-US" b="1" dirty="0" smtClean="0">
                <a:solidFill>
                  <a:srgbClr val="8E8791"/>
                </a:solidFill>
              </a:rPr>
              <a:t> 부서장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43" idx="2"/>
          </p:cNvCxnSpPr>
          <p:nvPr/>
        </p:nvCxnSpPr>
        <p:spPr>
          <a:xfrm flipH="1">
            <a:off x="7692571" y="7357275"/>
            <a:ext cx="5328408" cy="148192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1349538" y="2616808"/>
            <a:ext cx="416011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헤더</a:t>
            </a:r>
            <a:r>
              <a:rPr lang="en-US" altLang="ko-KR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푸터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689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64" y="3314109"/>
            <a:ext cx="12072455" cy="5919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5" name="직선 연결선 34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3" idx="2"/>
          </p:cNvCxnSpPr>
          <p:nvPr/>
        </p:nvCxnSpPr>
        <p:spPr>
          <a:xfrm flipH="1">
            <a:off x="5343311" y="5297091"/>
            <a:ext cx="7639568" cy="152280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8" idx="2"/>
          </p:cNvCxnSpPr>
          <p:nvPr/>
        </p:nvCxnSpPr>
        <p:spPr>
          <a:xfrm flipH="1">
            <a:off x="11201401" y="3852359"/>
            <a:ext cx="1781478" cy="23184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>
            <a:off x="5981700" y="2409734"/>
            <a:ext cx="7001179" cy="155854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50" idx="2"/>
          </p:cNvCxnSpPr>
          <p:nvPr/>
        </p:nvCxnSpPr>
        <p:spPr>
          <a:xfrm flipH="1">
            <a:off x="9283700" y="6743930"/>
            <a:ext cx="3699179" cy="10862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46" idx="2"/>
          </p:cNvCxnSpPr>
          <p:nvPr/>
        </p:nvCxnSpPr>
        <p:spPr>
          <a:xfrm flipH="1" flipV="1">
            <a:off x="12395200" y="7906657"/>
            <a:ext cx="587679" cy="56321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/>
          <p:cNvGrpSpPr/>
          <p:nvPr/>
        </p:nvGrpSpPr>
        <p:grpSpPr>
          <a:xfrm>
            <a:off x="12982879" y="1975596"/>
            <a:ext cx="3859337" cy="1235501"/>
            <a:chOff x="13020979" y="1962896"/>
            <a:chExt cx="3859337" cy="1235501"/>
          </a:xfrm>
        </p:grpSpPr>
        <p:grpSp>
          <p:nvGrpSpPr>
            <p:cNvPr id="22" name="그룹 21">
              <a:extLst>
                <a:ext uri="{FF2B5EF4-FFF2-40B4-BE49-F238E27FC236}">
                  <a16:creationId xmlns="" xmlns:a16="http://schemas.microsoft.com/office/drawing/2014/main" id="{B712DD8F-6934-2D45-4AD0-A052140DAB50}"/>
                </a:ext>
              </a:extLst>
            </p:cNvPr>
            <p:cNvGrpSpPr/>
            <p:nvPr/>
          </p:nvGrpSpPr>
          <p:grpSpPr>
            <a:xfrm>
              <a:off x="13020979" y="1962896"/>
              <a:ext cx="3859337" cy="868276"/>
              <a:chOff x="4384082" y="4490256"/>
              <a:chExt cx="3859337" cy="868276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="" xmlns:a16="http://schemas.microsoft.com/office/drawing/2014/main" id="{4C269048-5426-9E48-CB91-312AE01BA921}"/>
                  </a:ext>
                </a:extLst>
              </p:cNvPr>
              <p:cNvSpPr/>
              <p:nvPr/>
            </p:nvSpPr>
            <p:spPr>
              <a:xfrm>
                <a:off x="4852309" y="4568825"/>
                <a:ext cx="3391110" cy="717550"/>
              </a:xfrm>
              <a:prstGeom prst="rect">
                <a:avLst/>
              </a:prstGeom>
              <a:solidFill>
                <a:srgbClr val="EFEFEF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200" b="1" dirty="0" smtClean="0">
                    <a:solidFill>
                      <a:srgbClr val="8E8791"/>
                    </a:solidFill>
                  </a:rPr>
                  <a:t>거래실적</a:t>
                </a:r>
                <a:endParaRPr lang="ko-KR" altLang="en-US" sz="2200" b="1" dirty="0">
                  <a:solidFill>
                    <a:srgbClr val="8E879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="" xmlns:a16="http://schemas.microsoft.com/office/drawing/2014/main" id="{BBF30BD5-5819-8DB9-13C7-35EB2965FC89}"/>
                  </a:ext>
                </a:extLst>
              </p:cNvPr>
              <p:cNvSpPr/>
              <p:nvPr/>
            </p:nvSpPr>
            <p:spPr>
              <a:xfrm>
                <a:off x="4384082" y="4490256"/>
                <a:ext cx="871151" cy="868276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="" xmlns:a16="http://schemas.microsoft.com/office/drawing/2014/main" id="{D0055AB3-2309-1F80-0D7A-B9C061498DFF}"/>
                  </a:ext>
                </a:extLst>
              </p:cNvPr>
              <p:cNvSpPr/>
              <p:nvPr/>
            </p:nvSpPr>
            <p:spPr>
              <a:xfrm>
                <a:off x="4501467" y="4606204"/>
                <a:ext cx="636379" cy="636379"/>
              </a:xfrm>
              <a:prstGeom prst="ellipse">
                <a:avLst/>
              </a:prstGeom>
              <a:solidFill>
                <a:srgbClr val="262F3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24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01</a:t>
                </a:r>
                <a:endParaRPr lang="ko-KR" altLang="en-US" sz="2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13773958" y="2829065"/>
              <a:ext cx="2005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8E8791"/>
                  </a:solidFill>
                </a:rPr>
                <a:t>월별 총 매출</a:t>
              </a:r>
              <a:r>
                <a:rPr lang="en-US" altLang="ko-KR" b="1" dirty="0" smtClean="0">
                  <a:solidFill>
                    <a:srgbClr val="8E8791"/>
                  </a:solidFill>
                </a:rPr>
                <a:t>/</a:t>
              </a:r>
              <a:r>
                <a:rPr lang="ko-KR" altLang="en-US" b="1" dirty="0" smtClean="0">
                  <a:solidFill>
                    <a:srgbClr val="8E8791"/>
                  </a:solidFill>
                </a:rPr>
                <a:t>매입</a:t>
              </a:r>
              <a:endParaRPr lang="en-US" altLang="ko-KR" b="1" dirty="0" smtClean="0">
                <a:solidFill>
                  <a:srgbClr val="8E8791"/>
                </a:solidFill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12982879" y="3418221"/>
            <a:ext cx="3859337" cy="1237608"/>
            <a:chOff x="13020979" y="3319181"/>
            <a:chExt cx="3859337" cy="1237608"/>
          </a:xfrm>
        </p:grpSpPr>
        <p:grpSp>
          <p:nvGrpSpPr>
            <p:cNvPr id="36" name="그룹 35">
              <a:extLst>
                <a:ext uri="{FF2B5EF4-FFF2-40B4-BE49-F238E27FC236}">
                  <a16:creationId xmlns="" xmlns:a16="http://schemas.microsoft.com/office/drawing/2014/main" id="{B712DD8F-6934-2D45-4AD0-A052140DAB50}"/>
                </a:ext>
              </a:extLst>
            </p:cNvPr>
            <p:cNvGrpSpPr/>
            <p:nvPr/>
          </p:nvGrpSpPr>
          <p:grpSpPr>
            <a:xfrm>
              <a:off x="13020979" y="3319181"/>
              <a:ext cx="3859337" cy="868276"/>
              <a:chOff x="4384082" y="4490256"/>
              <a:chExt cx="3859337" cy="868276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="" xmlns:a16="http://schemas.microsoft.com/office/drawing/2014/main" id="{4C269048-5426-9E48-CB91-312AE01BA921}"/>
                  </a:ext>
                </a:extLst>
              </p:cNvPr>
              <p:cNvSpPr/>
              <p:nvPr/>
            </p:nvSpPr>
            <p:spPr>
              <a:xfrm>
                <a:off x="4852309" y="4568825"/>
                <a:ext cx="3391110" cy="717550"/>
              </a:xfrm>
              <a:prstGeom prst="rect">
                <a:avLst/>
              </a:prstGeom>
              <a:solidFill>
                <a:srgbClr val="EFEFEF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200" b="1" dirty="0" smtClean="0">
                    <a:solidFill>
                      <a:srgbClr val="8E8791"/>
                    </a:solidFill>
                  </a:rPr>
                  <a:t>재고현황</a:t>
                </a:r>
                <a:endParaRPr lang="ko-KR" altLang="en-US" sz="2200" b="1" dirty="0">
                  <a:solidFill>
                    <a:srgbClr val="8E8791"/>
                  </a:solidFill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="" xmlns:a16="http://schemas.microsoft.com/office/drawing/2014/main" id="{BBF30BD5-5819-8DB9-13C7-35EB2965FC89}"/>
                  </a:ext>
                </a:extLst>
              </p:cNvPr>
              <p:cNvSpPr/>
              <p:nvPr/>
            </p:nvSpPr>
            <p:spPr>
              <a:xfrm>
                <a:off x="4384082" y="4490256"/>
                <a:ext cx="871151" cy="868276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="" xmlns:a16="http://schemas.microsoft.com/office/drawing/2014/main" id="{D0055AB3-2309-1F80-0D7A-B9C061498DFF}"/>
                  </a:ext>
                </a:extLst>
              </p:cNvPr>
              <p:cNvSpPr/>
              <p:nvPr/>
            </p:nvSpPr>
            <p:spPr>
              <a:xfrm>
                <a:off x="4501467" y="4606204"/>
                <a:ext cx="636379" cy="636379"/>
              </a:xfrm>
              <a:prstGeom prst="ellipse">
                <a:avLst/>
              </a:prstGeom>
              <a:solidFill>
                <a:srgbClr val="262F3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24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02</a:t>
                </a:r>
                <a:endParaRPr lang="ko-KR" altLang="en-US" sz="2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13774743" y="4187457"/>
              <a:ext cx="2704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8E8791"/>
                  </a:solidFill>
                </a:rPr>
                <a:t>현 재고의 창고 차지 비율</a:t>
              </a:r>
              <a:endParaRPr lang="en-US" altLang="ko-KR" b="1" dirty="0" smtClean="0">
                <a:solidFill>
                  <a:srgbClr val="8E8791"/>
                </a:solidFill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12982879" y="4862953"/>
            <a:ext cx="4084307" cy="1239715"/>
            <a:chOff x="13020979" y="4916766"/>
            <a:chExt cx="4084307" cy="1239715"/>
          </a:xfrm>
        </p:grpSpPr>
        <p:grpSp>
          <p:nvGrpSpPr>
            <p:cNvPr id="31" name="그룹 30">
              <a:extLst>
                <a:ext uri="{FF2B5EF4-FFF2-40B4-BE49-F238E27FC236}">
                  <a16:creationId xmlns="" xmlns:a16="http://schemas.microsoft.com/office/drawing/2014/main" id="{B712DD8F-6934-2D45-4AD0-A052140DAB50}"/>
                </a:ext>
              </a:extLst>
            </p:cNvPr>
            <p:cNvGrpSpPr/>
            <p:nvPr/>
          </p:nvGrpSpPr>
          <p:grpSpPr>
            <a:xfrm>
              <a:off x="13020979" y="4916766"/>
              <a:ext cx="3859337" cy="868276"/>
              <a:chOff x="4384082" y="4490256"/>
              <a:chExt cx="3859337" cy="868276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="" xmlns:a16="http://schemas.microsoft.com/office/drawing/2014/main" id="{4C269048-5426-9E48-CB91-312AE01BA921}"/>
                  </a:ext>
                </a:extLst>
              </p:cNvPr>
              <p:cNvSpPr/>
              <p:nvPr/>
            </p:nvSpPr>
            <p:spPr>
              <a:xfrm>
                <a:off x="4852309" y="4568825"/>
                <a:ext cx="3391110" cy="717550"/>
              </a:xfrm>
              <a:prstGeom prst="rect">
                <a:avLst/>
              </a:prstGeom>
              <a:solidFill>
                <a:srgbClr val="EFEFEF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200" b="1" dirty="0" smtClean="0">
                    <a:solidFill>
                      <a:srgbClr val="8E8791"/>
                    </a:solidFill>
                  </a:rPr>
                  <a:t>거래처실적</a:t>
                </a:r>
                <a:endParaRPr lang="ko-KR" altLang="en-US" sz="2200" b="1" dirty="0">
                  <a:solidFill>
                    <a:srgbClr val="8E8791"/>
                  </a:solidFill>
                </a:endParaRP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="" xmlns:a16="http://schemas.microsoft.com/office/drawing/2014/main" id="{BBF30BD5-5819-8DB9-13C7-35EB2965FC89}"/>
                  </a:ext>
                </a:extLst>
              </p:cNvPr>
              <p:cNvSpPr/>
              <p:nvPr/>
            </p:nvSpPr>
            <p:spPr>
              <a:xfrm>
                <a:off x="4384082" y="4490256"/>
                <a:ext cx="871151" cy="868276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="" xmlns:a16="http://schemas.microsoft.com/office/drawing/2014/main" id="{D0055AB3-2309-1F80-0D7A-B9C061498DFF}"/>
                  </a:ext>
                </a:extLst>
              </p:cNvPr>
              <p:cNvSpPr/>
              <p:nvPr/>
            </p:nvSpPr>
            <p:spPr>
              <a:xfrm>
                <a:off x="4501467" y="4606204"/>
                <a:ext cx="636379" cy="636379"/>
              </a:xfrm>
              <a:prstGeom prst="ellipse">
                <a:avLst/>
              </a:prstGeom>
              <a:solidFill>
                <a:srgbClr val="262F3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24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03</a:t>
                </a:r>
                <a:endParaRPr lang="ko-KR" altLang="en-US" sz="2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59" name="TextBox 58"/>
            <p:cNvSpPr txBox="1"/>
            <p:nvPr/>
          </p:nvSpPr>
          <p:spPr>
            <a:xfrm>
              <a:off x="13775528" y="5787149"/>
              <a:ext cx="332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8E8791"/>
                  </a:solidFill>
                </a:rPr>
                <a:t>거래처별 최근 </a:t>
              </a:r>
              <a:r>
                <a:rPr lang="en-US" altLang="ko-KR" b="1" dirty="0" smtClean="0">
                  <a:solidFill>
                    <a:srgbClr val="8E8791"/>
                  </a:solidFill>
                </a:rPr>
                <a:t>6</a:t>
              </a:r>
              <a:r>
                <a:rPr lang="ko-KR" altLang="en-US" b="1" dirty="0" smtClean="0">
                  <a:solidFill>
                    <a:srgbClr val="8E8791"/>
                  </a:solidFill>
                </a:rPr>
                <a:t>개월 매출</a:t>
              </a:r>
              <a:r>
                <a:rPr lang="en-US" altLang="ko-KR" b="1" dirty="0" smtClean="0">
                  <a:solidFill>
                    <a:srgbClr val="8E8791"/>
                  </a:solidFill>
                </a:rPr>
                <a:t>/</a:t>
              </a:r>
              <a:r>
                <a:rPr lang="ko-KR" altLang="en-US" b="1" dirty="0" smtClean="0">
                  <a:solidFill>
                    <a:srgbClr val="8E8791"/>
                  </a:solidFill>
                </a:rPr>
                <a:t>매입</a:t>
              </a:r>
              <a:endParaRPr lang="en-US" altLang="ko-KR" b="1" dirty="0" smtClean="0">
                <a:solidFill>
                  <a:srgbClr val="8E8791"/>
                </a:solidFill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12982879" y="6309792"/>
            <a:ext cx="3868687" cy="1518821"/>
            <a:chOff x="13020979" y="6514351"/>
            <a:chExt cx="3868687" cy="1518821"/>
          </a:xfrm>
        </p:grpSpPr>
        <p:grpSp>
          <p:nvGrpSpPr>
            <p:cNvPr id="48" name="그룹 47">
              <a:extLst>
                <a:ext uri="{FF2B5EF4-FFF2-40B4-BE49-F238E27FC236}">
                  <a16:creationId xmlns="" xmlns:a16="http://schemas.microsoft.com/office/drawing/2014/main" id="{B712DD8F-6934-2D45-4AD0-A052140DAB50}"/>
                </a:ext>
              </a:extLst>
            </p:cNvPr>
            <p:cNvGrpSpPr/>
            <p:nvPr/>
          </p:nvGrpSpPr>
          <p:grpSpPr>
            <a:xfrm>
              <a:off x="13020979" y="6514351"/>
              <a:ext cx="3859337" cy="868276"/>
              <a:chOff x="4384082" y="4490256"/>
              <a:chExt cx="3859337" cy="868276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="" xmlns:a16="http://schemas.microsoft.com/office/drawing/2014/main" id="{4C269048-5426-9E48-CB91-312AE01BA921}"/>
                  </a:ext>
                </a:extLst>
              </p:cNvPr>
              <p:cNvSpPr/>
              <p:nvPr/>
            </p:nvSpPr>
            <p:spPr>
              <a:xfrm>
                <a:off x="4852309" y="4568825"/>
                <a:ext cx="3391110" cy="717550"/>
              </a:xfrm>
              <a:prstGeom prst="rect">
                <a:avLst/>
              </a:prstGeom>
              <a:solidFill>
                <a:srgbClr val="EFEFEF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200" b="1" dirty="0" smtClean="0">
                    <a:solidFill>
                      <a:srgbClr val="8E8791"/>
                    </a:solidFill>
                  </a:rPr>
                  <a:t>공지사항</a:t>
                </a:r>
                <a:endParaRPr lang="ko-KR" altLang="en-US" sz="2200" b="1" dirty="0">
                  <a:solidFill>
                    <a:srgbClr val="8E8791"/>
                  </a:solidFill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="" xmlns:a16="http://schemas.microsoft.com/office/drawing/2014/main" id="{BBF30BD5-5819-8DB9-13C7-35EB2965FC89}"/>
                  </a:ext>
                </a:extLst>
              </p:cNvPr>
              <p:cNvSpPr/>
              <p:nvPr/>
            </p:nvSpPr>
            <p:spPr>
              <a:xfrm>
                <a:off x="4384082" y="4490256"/>
                <a:ext cx="871151" cy="868276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="" xmlns:a16="http://schemas.microsoft.com/office/drawing/2014/main" id="{D0055AB3-2309-1F80-0D7A-B9C061498DFF}"/>
                  </a:ext>
                </a:extLst>
              </p:cNvPr>
              <p:cNvSpPr/>
              <p:nvPr/>
            </p:nvSpPr>
            <p:spPr>
              <a:xfrm>
                <a:off x="4501467" y="4606204"/>
                <a:ext cx="636379" cy="636379"/>
              </a:xfrm>
              <a:prstGeom prst="ellipse">
                <a:avLst/>
              </a:prstGeom>
              <a:solidFill>
                <a:srgbClr val="262F3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24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03</a:t>
                </a:r>
                <a:endParaRPr lang="ko-KR" altLang="en-US" sz="2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60" name="TextBox 59"/>
            <p:cNvSpPr txBox="1"/>
            <p:nvPr/>
          </p:nvSpPr>
          <p:spPr>
            <a:xfrm>
              <a:off x="13776313" y="7386841"/>
              <a:ext cx="31133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8E8791"/>
                  </a:solidFill>
                </a:rPr>
                <a:t>사내 공지사항</a:t>
              </a:r>
              <a:endParaRPr lang="en-US" altLang="ko-KR" b="1" dirty="0" smtClean="0">
                <a:solidFill>
                  <a:srgbClr val="8E8791"/>
                </a:solidFill>
              </a:endParaRPr>
            </a:p>
            <a:p>
              <a:r>
                <a:rPr lang="ko-KR" altLang="en-US" b="1" dirty="0" err="1" smtClean="0">
                  <a:solidFill>
                    <a:srgbClr val="8E8791"/>
                  </a:solidFill>
                </a:rPr>
                <a:t>선택시</a:t>
              </a:r>
              <a:r>
                <a:rPr lang="ko-KR" altLang="en-US" b="1" dirty="0" smtClean="0">
                  <a:solidFill>
                    <a:srgbClr val="8E8791"/>
                  </a:solidFill>
                </a:rPr>
                <a:t> 공지사항 페이지 이동</a:t>
              </a:r>
              <a:endParaRPr lang="en-US" altLang="ko-KR" b="1" dirty="0" smtClean="0">
                <a:solidFill>
                  <a:srgbClr val="8E8791"/>
                </a:solidFill>
              </a:endParaRP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12982879" y="8035737"/>
            <a:ext cx="3859337" cy="1243928"/>
            <a:chOff x="13020979" y="8023037"/>
            <a:chExt cx="3859337" cy="1243928"/>
          </a:xfrm>
        </p:grpSpPr>
        <p:grpSp>
          <p:nvGrpSpPr>
            <p:cNvPr id="44" name="그룹 43">
              <a:extLst>
                <a:ext uri="{FF2B5EF4-FFF2-40B4-BE49-F238E27FC236}">
                  <a16:creationId xmlns="" xmlns:a16="http://schemas.microsoft.com/office/drawing/2014/main" id="{B712DD8F-6934-2D45-4AD0-A052140DAB50}"/>
                </a:ext>
              </a:extLst>
            </p:cNvPr>
            <p:cNvGrpSpPr/>
            <p:nvPr/>
          </p:nvGrpSpPr>
          <p:grpSpPr>
            <a:xfrm>
              <a:off x="13020979" y="8023037"/>
              <a:ext cx="3859337" cy="868276"/>
              <a:chOff x="4384082" y="4490256"/>
              <a:chExt cx="3859337" cy="868276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="" xmlns:a16="http://schemas.microsoft.com/office/drawing/2014/main" id="{4C269048-5426-9E48-CB91-312AE01BA921}"/>
                  </a:ext>
                </a:extLst>
              </p:cNvPr>
              <p:cNvSpPr/>
              <p:nvPr/>
            </p:nvSpPr>
            <p:spPr>
              <a:xfrm>
                <a:off x="4852309" y="4568825"/>
                <a:ext cx="3391110" cy="717550"/>
              </a:xfrm>
              <a:prstGeom prst="rect">
                <a:avLst/>
              </a:prstGeom>
              <a:solidFill>
                <a:srgbClr val="EFEFEF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200" b="1" dirty="0" smtClean="0">
                    <a:solidFill>
                      <a:srgbClr val="8E8791"/>
                    </a:solidFill>
                  </a:rPr>
                  <a:t>날씨</a:t>
                </a:r>
                <a:endParaRPr lang="ko-KR" altLang="en-US" sz="2200" b="1" dirty="0">
                  <a:solidFill>
                    <a:srgbClr val="8E8791"/>
                  </a:solidFill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="" xmlns:a16="http://schemas.microsoft.com/office/drawing/2014/main" id="{BBF30BD5-5819-8DB9-13C7-35EB2965FC89}"/>
                  </a:ext>
                </a:extLst>
              </p:cNvPr>
              <p:cNvSpPr/>
              <p:nvPr/>
            </p:nvSpPr>
            <p:spPr>
              <a:xfrm>
                <a:off x="4384082" y="4490256"/>
                <a:ext cx="871151" cy="868276"/>
              </a:xfrm>
              <a:prstGeom prst="ellipse">
                <a:avLst/>
              </a:prstGeom>
              <a:solidFill>
                <a:srgbClr val="FFFFFF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="" xmlns:a16="http://schemas.microsoft.com/office/drawing/2014/main" id="{D0055AB3-2309-1F80-0D7A-B9C061498DFF}"/>
                  </a:ext>
                </a:extLst>
              </p:cNvPr>
              <p:cNvSpPr/>
              <p:nvPr/>
            </p:nvSpPr>
            <p:spPr>
              <a:xfrm>
                <a:off x="4501467" y="4606204"/>
                <a:ext cx="636379" cy="636379"/>
              </a:xfrm>
              <a:prstGeom prst="ellipse">
                <a:avLst/>
              </a:prstGeom>
              <a:solidFill>
                <a:srgbClr val="262F3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24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03</a:t>
                </a:r>
                <a:endParaRPr lang="ko-KR" altLang="en-US" sz="2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13777098" y="8897633"/>
              <a:ext cx="21900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8E8791"/>
                  </a:solidFill>
                </a:rPr>
                <a:t>위치 기반 현재 날씨</a:t>
              </a:r>
              <a:endParaRPr lang="en-US" altLang="ko-KR" b="1" dirty="0" smtClean="0">
                <a:solidFill>
                  <a:srgbClr val="8E8791"/>
                </a:solidFill>
              </a:endParaRPr>
            </a:p>
          </p:txBody>
        </p:sp>
      </p:grpSp>
      <p:sp>
        <p:nvSpPr>
          <p:cNvPr id="62" name="직사각형 61"/>
          <p:cNvSpPr/>
          <p:nvPr/>
        </p:nvSpPr>
        <p:spPr>
          <a:xfrm>
            <a:off x="1349538" y="2616808"/>
            <a:ext cx="403187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대시보드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900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65" y="5676869"/>
            <a:ext cx="7150450" cy="350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2982879" y="1975596"/>
            <a:ext cx="3859337" cy="868276"/>
            <a:chOff x="4384082" y="4490256"/>
            <a:chExt cx="3859337" cy="868276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거래실적 팝업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2982879" y="3573181"/>
            <a:ext cx="3859337" cy="868276"/>
            <a:chOff x="4384082" y="4490256"/>
            <a:chExt cx="3859337" cy="868276"/>
          </a:xfrm>
        </p:grpSpPr>
        <p:sp>
          <p:nvSpPr>
            <p:cNvPr id="37" name="직사각형 36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품목검색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3735858" y="2841765"/>
            <a:ext cx="21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가장 많은 거래금의 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품목 그래프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36643" y="4441457"/>
            <a:ext cx="267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8E8791"/>
                </a:solidFill>
              </a:rPr>
              <a:t>AJAX </a:t>
            </a:r>
            <a:r>
              <a:rPr lang="ko-KR" altLang="en-US" b="1" dirty="0" smtClean="0">
                <a:solidFill>
                  <a:srgbClr val="8E8791"/>
                </a:solidFill>
              </a:rPr>
              <a:t>활용 품목 가져오기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4686714" y="3435129"/>
            <a:ext cx="7429086" cy="5670176"/>
            <a:chOff x="4039960" y="3690412"/>
            <a:chExt cx="5639633" cy="4271938"/>
          </a:xfrm>
        </p:grpSpPr>
        <p:sp>
          <p:nvSpPr>
            <p:cNvPr id="5" name="사각형 설명선 4"/>
            <p:cNvSpPr/>
            <p:nvPr/>
          </p:nvSpPr>
          <p:spPr>
            <a:xfrm>
              <a:off x="4039960" y="3690412"/>
              <a:ext cx="5639633" cy="4259708"/>
            </a:xfrm>
            <a:prstGeom prst="wedgeRectCallout">
              <a:avLst>
                <a:gd name="adj1" fmla="val -60237"/>
                <a:gd name="adj2" fmla="val 12693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9960" y="3690412"/>
              <a:ext cx="5639633" cy="427193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>
            <a:off x="9055100" y="2409734"/>
            <a:ext cx="3927779" cy="10253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8" idx="2"/>
          </p:cNvCxnSpPr>
          <p:nvPr/>
        </p:nvCxnSpPr>
        <p:spPr>
          <a:xfrm flipH="1">
            <a:off x="11912600" y="4007319"/>
            <a:ext cx="1070279" cy="904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1349538" y="2616808"/>
            <a:ext cx="5378395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대시보드</a:t>
            </a:r>
            <a:r>
              <a:rPr lang="en-US" altLang="ko-KR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거래실적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302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65" y="5664169"/>
            <a:ext cx="7150450" cy="350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1988296"/>
            <a:ext cx="3859337" cy="868276"/>
            <a:chOff x="4384082" y="4490256"/>
            <a:chExt cx="3859337" cy="868276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거래처실적 팝업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3585881"/>
            <a:ext cx="3859337" cy="868276"/>
            <a:chOff x="4384082" y="4490256"/>
            <a:chExt cx="3859337" cy="868276"/>
          </a:xfrm>
        </p:grpSpPr>
        <p:sp>
          <p:nvSpPr>
            <p:cNvPr id="37" name="직사각형 36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거래처검색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3773958" y="2854465"/>
            <a:ext cx="21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가장 많은 거래금의 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거래처 그래프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74743" y="4454157"/>
            <a:ext cx="2901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8E8791"/>
                </a:solidFill>
              </a:rPr>
              <a:t>AJAX </a:t>
            </a:r>
            <a:r>
              <a:rPr lang="ko-KR" altLang="en-US" b="1" dirty="0" smtClean="0">
                <a:solidFill>
                  <a:srgbClr val="8E8791"/>
                </a:solidFill>
              </a:rPr>
              <a:t>활용 거래처 가져오기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288544" y="3435129"/>
            <a:ext cx="7215832" cy="5465885"/>
            <a:chOff x="4686714" y="3622168"/>
            <a:chExt cx="7215832" cy="5465885"/>
          </a:xfrm>
        </p:grpSpPr>
        <p:sp>
          <p:nvSpPr>
            <p:cNvPr id="5" name="사각형 설명선 4"/>
            <p:cNvSpPr/>
            <p:nvPr/>
          </p:nvSpPr>
          <p:spPr>
            <a:xfrm>
              <a:off x="4686714" y="3622168"/>
              <a:ext cx="7215832" cy="5465885"/>
            </a:xfrm>
            <a:prstGeom prst="wedgeRectCallout">
              <a:avLst>
                <a:gd name="adj1" fmla="val -67981"/>
                <a:gd name="adj2" fmla="val 39878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7194" y="3635983"/>
              <a:ext cx="7162386" cy="5425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8" idx="2"/>
          </p:cNvCxnSpPr>
          <p:nvPr/>
        </p:nvCxnSpPr>
        <p:spPr>
          <a:xfrm flipH="1">
            <a:off x="12382500" y="4020019"/>
            <a:ext cx="638479" cy="18099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5686172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대시보드</a:t>
            </a:r>
            <a:r>
              <a:rPr lang="en-US" altLang="ko-KR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거래처실적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>
            <a:off x="9347200" y="2422434"/>
            <a:ext cx="3673779" cy="102651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995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B79BD1BC-A8BB-9D99-38D5-8D5F1E587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41" y="3408680"/>
            <a:ext cx="11232039" cy="5740718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xmlns="" id="{74F3FD3F-E93D-94D3-F6CF-D7778D6A2B69}"/>
              </a:ext>
            </a:extLst>
          </p:cNvPr>
          <p:cNvGrpSpPr/>
          <p:nvPr/>
        </p:nvGrpSpPr>
        <p:grpSpPr>
          <a:xfrm>
            <a:off x="12617874" y="3954068"/>
            <a:ext cx="4065851" cy="868276"/>
            <a:chOff x="4384082" y="4490256"/>
            <a:chExt cx="4065851" cy="868276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xmlns="" id="{3664D885-AF03-556D-25B2-3D96BFBCA46E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등록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xmlns="" id="{E6FBD217-25EE-EE90-DD52-9284B92F9677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xmlns="" id="{A8B5114F-0809-002C-F2B4-A62C64E58A98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xmlns="" id="{E4BDF2C1-0C39-01EA-D006-4EC9AF11D3BA}"/>
              </a:ext>
            </a:extLst>
          </p:cNvPr>
          <p:cNvCxnSpPr>
            <a:cxnSpLocks/>
            <a:stCxn id="32" idx="2"/>
          </p:cNvCxnSpPr>
          <p:nvPr/>
        </p:nvCxnSpPr>
        <p:spPr>
          <a:xfrm flipH="1" flipV="1">
            <a:off x="11976214" y="3662411"/>
            <a:ext cx="641660" cy="7257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329BC909-9457-F115-8D1A-5863D73BA486}"/>
              </a:ext>
            </a:extLst>
          </p:cNvPr>
          <p:cNvGrpSpPr/>
          <p:nvPr/>
        </p:nvGrpSpPr>
        <p:grpSpPr>
          <a:xfrm>
            <a:off x="12617874" y="5900113"/>
            <a:ext cx="4065851" cy="868276"/>
            <a:chOff x="4384082" y="4490256"/>
            <a:chExt cx="4065851" cy="868276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xmlns="" id="{AD9F3579-BB84-61D6-71D8-6DE9D5F06BCA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수정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263AE475-C3DA-ECE0-C75B-B980B610DBC4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xmlns="" id="{285129F6-623D-7E76-91D0-51B52A37A52E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xmlns="" id="{FCC67D82-2E1E-BB41-CAA4-CE4E3FF9EE73}"/>
              </a:ext>
            </a:extLst>
          </p:cNvPr>
          <p:cNvCxnSpPr>
            <a:cxnSpLocks/>
            <a:stCxn id="44" idx="2"/>
          </p:cNvCxnSpPr>
          <p:nvPr/>
        </p:nvCxnSpPr>
        <p:spPr>
          <a:xfrm flipH="1" flipV="1">
            <a:off x="11722102" y="5969001"/>
            <a:ext cx="895772" cy="36525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16EA363D-8220-3E01-292D-A1D1C2AAC52D}"/>
              </a:ext>
            </a:extLst>
          </p:cNvPr>
          <p:cNvGrpSpPr/>
          <p:nvPr/>
        </p:nvGrpSpPr>
        <p:grpSpPr>
          <a:xfrm>
            <a:off x="12617874" y="7846157"/>
            <a:ext cx="4065851" cy="868276"/>
            <a:chOff x="4384082" y="4490256"/>
            <a:chExt cx="4065851" cy="868276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xmlns="" id="{4A87BFDA-B145-1CCC-3953-73C65720E8D9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상세보기 클릭</a:t>
              </a: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xmlns="" id="{2AE96122-728C-D4D7-D08D-8C17E0435C83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933BA169-35EF-C395-0938-C9C71BCFF5C5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xmlns="" id="{E0FA3576-00DD-6A62-3D7E-2C39A4996FB6}"/>
              </a:ext>
            </a:extLst>
          </p:cNvPr>
          <p:cNvCxnSpPr>
            <a:cxnSpLocks/>
            <a:stCxn id="50" idx="2"/>
          </p:cNvCxnSpPr>
          <p:nvPr/>
        </p:nvCxnSpPr>
        <p:spPr>
          <a:xfrm flipH="1" flipV="1">
            <a:off x="4864100" y="7846157"/>
            <a:ext cx="7753774" cy="43413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xmlns="" id="{D0047A5E-B577-73DA-9C2E-75ED25DF7BD6}"/>
              </a:ext>
            </a:extLst>
          </p:cNvPr>
          <p:cNvGrpSpPr/>
          <p:nvPr/>
        </p:nvGrpSpPr>
        <p:grpSpPr>
          <a:xfrm>
            <a:off x="12623448" y="2008023"/>
            <a:ext cx="4060277" cy="868276"/>
            <a:chOff x="4384082" y="4490256"/>
            <a:chExt cx="4060277" cy="868276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xmlns="" id="{799845B7-FEE7-9B80-59E8-168712B3DB08}"/>
                </a:ext>
              </a:extLst>
            </p:cNvPr>
            <p:cNvSpPr/>
            <p:nvPr/>
          </p:nvSpPr>
          <p:spPr>
            <a:xfrm>
              <a:off x="4852309" y="4568825"/>
              <a:ext cx="35920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검색필터 설정</a:t>
              </a: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xmlns="" id="{8A3CA3A0-EA5D-FDE9-4309-6E9C521BA75D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xmlns="" id="{366A5B38-BF76-DE57-30B9-0ADD17A31F43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xmlns="" id="{A373C927-D465-48FA-7D36-C49A033BE910}"/>
              </a:ext>
            </a:extLst>
          </p:cNvPr>
          <p:cNvCxnSpPr>
            <a:cxnSpLocks/>
            <a:stCxn id="63" idx="3"/>
          </p:cNvCxnSpPr>
          <p:nvPr/>
        </p:nvCxnSpPr>
        <p:spPr>
          <a:xfrm flipH="1">
            <a:off x="9613900" y="2749143"/>
            <a:ext cx="3137125" cy="122494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목록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7379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A9392C-7CF8-166E-6295-0360E8FF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6DA46394-EB13-A260-52DF-1182781ADD30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xmlns="" id="{3D59A432-E8CA-6731-4EAE-E4BAAAFB5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37B4344C-E4A3-5731-A3CE-DA34363F8AA7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C528F22A-D2FC-F944-2BB9-6DC864122210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1EC8BF01-5E46-4D3A-A4D9-3364E82AACB9}"/>
              </a:ext>
            </a:extLst>
          </p:cNvPr>
          <p:cNvGrpSpPr/>
          <p:nvPr/>
        </p:nvGrpSpPr>
        <p:grpSpPr>
          <a:xfrm>
            <a:off x="13436904" y="2726963"/>
            <a:ext cx="3044704" cy="868276"/>
            <a:chOff x="4384082" y="4490256"/>
            <a:chExt cx="3044704" cy="86827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5D992DD2-C327-042E-6190-40A114F53CAD}"/>
                </a:ext>
              </a:extLst>
            </p:cNvPr>
            <p:cNvSpPr/>
            <p:nvPr/>
          </p:nvSpPr>
          <p:spPr>
            <a:xfrm>
              <a:off x="4852309" y="4568825"/>
              <a:ext cx="2576477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목록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xmlns="" id="{87F3F34E-C023-DD34-91BA-71D52A00973B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xmlns="" id="{E99EA592-3320-21F7-2846-48458E4E9FA9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02491CCB-9DC5-33D3-80F7-8EB22F499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54" y="3861582"/>
            <a:ext cx="11941615" cy="5331079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xmlns="" id="{13FD3C81-A19A-DF73-126E-496E66E57E05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1638300" y="3161101"/>
            <a:ext cx="11798604" cy="83939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13D65584-68DB-B7F7-E2CB-D990AF402769}"/>
              </a:ext>
            </a:extLst>
          </p:cNvPr>
          <p:cNvGrpSpPr/>
          <p:nvPr/>
        </p:nvGrpSpPr>
        <p:grpSpPr>
          <a:xfrm>
            <a:off x="13436904" y="4260629"/>
            <a:ext cx="3044704" cy="868276"/>
            <a:chOff x="4384082" y="4490256"/>
            <a:chExt cx="3044704" cy="86827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003DBC90-75C9-5D95-0A2F-E35B4A268C31}"/>
                </a:ext>
              </a:extLst>
            </p:cNvPr>
            <p:cNvSpPr/>
            <p:nvPr/>
          </p:nvSpPr>
          <p:spPr>
            <a:xfrm>
              <a:off x="4852309" y="4568825"/>
              <a:ext cx="2576477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초기화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xmlns="" id="{6070C6BF-5945-F2A9-CFBA-D632B9991A55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xmlns="" id="{C4471BF8-6FCA-ABE8-08A8-D8E1147F8D14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81B54AA1-1DC1-BC29-624B-F3394114D27C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292600" y="4694767"/>
            <a:ext cx="9144304" cy="395393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xmlns="" id="{666B20E6-802E-0B7D-644A-E73D0BA85195}"/>
              </a:ext>
            </a:extLst>
          </p:cNvPr>
          <p:cNvGrpSpPr/>
          <p:nvPr/>
        </p:nvGrpSpPr>
        <p:grpSpPr>
          <a:xfrm>
            <a:off x="13419538" y="5741218"/>
            <a:ext cx="3044704" cy="868276"/>
            <a:chOff x="4384082" y="4490256"/>
            <a:chExt cx="3044704" cy="868276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xmlns="" id="{266D40C5-BCED-DD4D-20B6-8071B48EDEAE}"/>
                </a:ext>
              </a:extLst>
            </p:cNvPr>
            <p:cNvSpPr/>
            <p:nvPr/>
          </p:nvSpPr>
          <p:spPr>
            <a:xfrm>
              <a:off x="4852309" y="4568825"/>
              <a:ext cx="2576477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등록 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xmlns="" id="{BB7FCC07-3B52-EC96-92A0-46200FF72655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xmlns="" id="{0174EB3B-8E94-E4E3-325B-2B9203DDF7ED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xmlns="" id="{DFE013CE-DBA4-93DB-845B-5F9972019057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10007600" y="6175356"/>
            <a:ext cx="3411938" cy="247334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349538" y="2616808"/>
            <a:ext cx="452559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신규 부품 등록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037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A6FD13-3C78-6B4D-8B77-01041C7E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5B547A32-1663-780D-B665-D6AF157A3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xmlns="" id="{B9B349F2-CA05-8C7B-54A9-CEE9E005B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FFB2C29E-001C-6057-2325-DCEEF31B3BE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7AB82FF3-CB73-F8A9-9D50-5AD3E803BA2B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xmlns="" id="{06CA1E67-3FDF-E79E-77CE-4306DF4D1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98" y="3632423"/>
            <a:ext cx="11122562" cy="5516538"/>
          </a:xfrm>
          <a:prstGeom prst="rect">
            <a:avLst/>
          </a:prstGeom>
        </p:spPr>
      </p:pic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xmlns="" id="{61A4E5E5-CDD4-CAB0-C5EA-C78D3AC42412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8666327" y="8280295"/>
            <a:ext cx="3951547" cy="36198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xmlns="" id="{321C6DE0-82EE-C079-8C1C-3325B43619D8}"/>
              </a:ext>
            </a:extLst>
          </p:cNvPr>
          <p:cNvCxnSpPr>
            <a:cxnSpLocks/>
            <a:stCxn id="56" idx="2"/>
          </p:cNvCxnSpPr>
          <p:nvPr/>
        </p:nvCxnSpPr>
        <p:spPr>
          <a:xfrm flipH="1" flipV="1">
            <a:off x="4533900" y="4584700"/>
            <a:ext cx="8083974" cy="59937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수정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xmlns="" id="{13FD3C81-A19A-DF73-126E-496E66E57E05}"/>
              </a:ext>
            </a:extLst>
          </p:cNvPr>
          <p:cNvCxnSpPr>
            <a:cxnSpLocks/>
            <a:stCxn id="74" idx="2"/>
          </p:cNvCxnSpPr>
          <p:nvPr/>
        </p:nvCxnSpPr>
        <p:spPr>
          <a:xfrm flipH="1">
            <a:off x="1485900" y="3635961"/>
            <a:ext cx="11137548" cy="9783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xmlns="" id="{74F3FD3F-E93D-94D3-F6CF-D7778D6A2B69}"/>
              </a:ext>
            </a:extLst>
          </p:cNvPr>
          <p:cNvGrpSpPr/>
          <p:nvPr/>
        </p:nvGrpSpPr>
        <p:grpSpPr>
          <a:xfrm>
            <a:off x="12617874" y="4749934"/>
            <a:ext cx="4065851" cy="868276"/>
            <a:chOff x="4384082" y="4490256"/>
            <a:chExt cx="4065851" cy="868276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xmlns="" id="{3664D885-AF03-556D-25B2-3D96BFBCA46E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이미지 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파일삭제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xmlns="" id="{E6FBD217-25EE-EE90-DD52-9284B92F9677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xmlns="" id="{A8B5114F-0809-002C-F2B4-A62C64E58A98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xmlns="" id="{329BC909-9457-F115-8D1A-5863D73BA486}"/>
              </a:ext>
            </a:extLst>
          </p:cNvPr>
          <p:cNvGrpSpPr/>
          <p:nvPr/>
        </p:nvGrpSpPr>
        <p:grpSpPr>
          <a:xfrm>
            <a:off x="12617874" y="6298045"/>
            <a:ext cx="4065851" cy="868276"/>
            <a:chOff x="4384082" y="4490256"/>
            <a:chExt cx="4065851" cy="868276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xmlns="" id="{AD9F3579-BB84-61D6-71D8-6DE9D5F06BCA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삭제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xmlns="" id="{263AE475-C3DA-ECE0-C75B-B980B610DBC4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xmlns="" id="{285129F6-623D-7E76-91D0-51B52A37A52E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xmlns="" id="{16EA363D-8220-3E01-292D-A1D1C2AAC52D}"/>
              </a:ext>
            </a:extLst>
          </p:cNvPr>
          <p:cNvGrpSpPr/>
          <p:nvPr/>
        </p:nvGrpSpPr>
        <p:grpSpPr>
          <a:xfrm>
            <a:off x="12617874" y="7846157"/>
            <a:ext cx="4065851" cy="868276"/>
            <a:chOff x="4384082" y="4490256"/>
            <a:chExt cx="4065851" cy="868276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xmlns="" id="{4A87BFDA-B145-1CCC-3953-73C65720E8D9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수정 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클릭</a:t>
              </a: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xmlns="" id="{2AE96122-728C-D4D7-D08D-8C17E0435C83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xmlns="" id="{933BA169-35EF-C395-0938-C9C71BCFF5C5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xmlns="" id="{D0047A5E-B577-73DA-9C2E-75ED25DF7BD6}"/>
              </a:ext>
            </a:extLst>
          </p:cNvPr>
          <p:cNvGrpSpPr/>
          <p:nvPr/>
        </p:nvGrpSpPr>
        <p:grpSpPr>
          <a:xfrm>
            <a:off x="12623448" y="3201823"/>
            <a:ext cx="4060277" cy="868276"/>
            <a:chOff x="4384082" y="4490256"/>
            <a:chExt cx="4060277" cy="868276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xmlns="" id="{799845B7-FEE7-9B80-59E8-168712B3DB08}"/>
                </a:ext>
              </a:extLst>
            </p:cNvPr>
            <p:cNvSpPr/>
            <p:nvPr/>
          </p:nvSpPr>
          <p:spPr>
            <a:xfrm>
              <a:off x="4852309" y="4568825"/>
              <a:ext cx="35920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목록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xmlns="" id="{8A3CA3A0-EA5D-FDE9-4309-6E9C521BA75D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xmlns="" id="{366A5B38-BF76-DE57-30B9-0ADD17A31F43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xmlns="" id="{321C6DE0-82EE-C079-8C1C-3325B43619D8}"/>
              </a:ext>
            </a:extLst>
          </p:cNvPr>
          <p:cNvCxnSpPr>
            <a:cxnSpLocks/>
            <a:stCxn id="66" idx="2"/>
          </p:cNvCxnSpPr>
          <p:nvPr/>
        </p:nvCxnSpPr>
        <p:spPr>
          <a:xfrm flipH="1">
            <a:off x="3073400" y="6732183"/>
            <a:ext cx="9544474" cy="18663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85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91211B-FD5D-5C3E-4C2D-787008DE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CF86C519-AE93-520C-40E6-9A90E01DB505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xmlns="" id="{7FCDB9E1-C7A4-BF9C-9634-784E29E93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95B6BFFA-1AA5-10BC-1535-9AA05B0C830B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DC0B6573-060C-B0BD-B08B-AE65292F48AE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D8BD3F8A-3712-5B88-93C7-47CEE40FA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55" y="3639166"/>
            <a:ext cx="11669308" cy="5479621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976BA834-86FC-41F7-3A3D-A4B1914268CC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9043848" y="6732183"/>
            <a:ext cx="3574026" cy="181532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xmlns="" id="{906BD21F-78B0-3B73-911D-F7351E1FE2BA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2676018" y="5184072"/>
            <a:ext cx="9941856" cy="3382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74F3FD3F-E93D-94D3-F6CF-D7778D6A2B69}"/>
              </a:ext>
            </a:extLst>
          </p:cNvPr>
          <p:cNvGrpSpPr/>
          <p:nvPr/>
        </p:nvGrpSpPr>
        <p:grpSpPr>
          <a:xfrm>
            <a:off x="12617874" y="4749934"/>
            <a:ext cx="4065851" cy="868276"/>
            <a:chOff x="4384082" y="4490256"/>
            <a:chExt cx="4065851" cy="868276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3664D885-AF03-556D-25B2-3D96BFBCA46E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삭제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xmlns="" id="{E6FBD217-25EE-EE90-DD52-9284B92F9677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xmlns="" id="{A8B5114F-0809-002C-F2B4-A62C64E58A98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329BC909-9457-F115-8D1A-5863D73BA486}"/>
              </a:ext>
            </a:extLst>
          </p:cNvPr>
          <p:cNvGrpSpPr/>
          <p:nvPr/>
        </p:nvGrpSpPr>
        <p:grpSpPr>
          <a:xfrm>
            <a:off x="12617874" y="6298045"/>
            <a:ext cx="4065851" cy="868276"/>
            <a:chOff x="4384082" y="4490256"/>
            <a:chExt cx="4065851" cy="86827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xmlns="" id="{AD9F3579-BB84-61D6-71D8-6DE9D5F06BCA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수정페이지 이동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xmlns="" id="{263AE475-C3DA-ECE0-C75B-B980B610DBC4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xmlns="" id="{285129F6-623D-7E76-91D0-51B52A37A52E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xmlns="" id="{D0047A5E-B577-73DA-9C2E-75ED25DF7BD6}"/>
              </a:ext>
            </a:extLst>
          </p:cNvPr>
          <p:cNvGrpSpPr/>
          <p:nvPr/>
        </p:nvGrpSpPr>
        <p:grpSpPr>
          <a:xfrm>
            <a:off x="12623448" y="3201823"/>
            <a:ext cx="4060277" cy="868276"/>
            <a:chOff x="4384082" y="4490256"/>
            <a:chExt cx="4060277" cy="86827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xmlns="" id="{799845B7-FEE7-9B80-59E8-168712B3DB08}"/>
                </a:ext>
              </a:extLst>
            </p:cNvPr>
            <p:cNvSpPr/>
            <p:nvPr/>
          </p:nvSpPr>
          <p:spPr>
            <a:xfrm>
              <a:off x="4852309" y="4568825"/>
              <a:ext cx="35920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목록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xmlns="" id="{8A3CA3A0-EA5D-FDE9-4309-6E9C521BA75D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xmlns="" id="{366A5B38-BF76-DE57-30B9-0ADD17A31F43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xmlns="" id="{906BD21F-78B0-3B73-911D-F7351E1FE2BA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1600200" y="3635961"/>
            <a:ext cx="11023248" cy="16133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8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618B86-B4F8-5BD0-E51E-9C5F0253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88E1F13D-FB2D-23D4-A3C0-EA51CC1DC1D0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xmlns="" id="{5B97F2E2-51D5-48E9-5D79-878ED8E9A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FDEAAD07-17CF-0C53-9CBA-8E78AC70FE7F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C2C034C8-637F-60CE-8B8C-74D9099C7E81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D39579C3-33D6-272E-A9D5-2F6AE8DB9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803" y="3568700"/>
            <a:ext cx="11121395" cy="5390925"/>
          </a:xfrm>
          <a:prstGeom prst="rect">
            <a:avLst/>
          </a:prstGeom>
        </p:spPr>
      </p:pic>
      <p:sp>
        <p:nvSpPr>
          <p:cNvPr id="44" name="직사각형 43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목록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74F3FD3F-E93D-94D3-F6CF-D7778D6A2B69}"/>
              </a:ext>
            </a:extLst>
          </p:cNvPr>
          <p:cNvGrpSpPr/>
          <p:nvPr/>
        </p:nvGrpSpPr>
        <p:grpSpPr>
          <a:xfrm>
            <a:off x="12617874" y="3954068"/>
            <a:ext cx="4065851" cy="868276"/>
            <a:chOff x="4384082" y="4490256"/>
            <a:chExt cx="4065851" cy="86827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xmlns="" id="{3664D885-AF03-556D-25B2-3D96BFBCA46E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등록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xmlns="" id="{E6FBD217-25EE-EE90-DD52-9284B92F9677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xmlns="" id="{A8B5114F-0809-002C-F2B4-A62C64E58A98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xmlns="" id="{E4BDF2C1-0C39-01EA-D006-4EC9AF11D3BA}"/>
              </a:ext>
            </a:extLst>
          </p:cNvPr>
          <p:cNvCxnSpPr>
            <a:cxnSpLocks/>
            <a:stCxn id="47" idx="2"/>
          </p:cNvCxnSpPr>
          <p:nvPr/>
        </p:nvCxnSpPr>
        <p:spPr>
          <a:xfrm flipH="1" flipV="1">
            <a:off x="11976214" y="3797300"/>
            <a:ext cx="641660" cy="5909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xmlns="" id="{329BC909-9457-F115-8D1A-5863D73BA486}"/>
              </a:ext>
            </a:extLst>
          </p:cNvPr>
          <p:cNvGrpSpPr/>
          <p:nvPr/>
        </p:nvGrpSpPr>
        <p:grpSpPr>
          <a:xfrm>
            <a:off x="12617874" y="5900113"/>
            <a:ext cx="4065851" cy="868276"/>
            <a:chOff x="4384082" y="4490256"/>
            <a:chExt cx="4065851" cy="868276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xmlns="" id="{AD9F3579-BB84-61D6-71D8-6DE9D5F06BCA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수정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263AE475-C3DA-ECE0-C75B-B980B610DBC4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xmlns="" id="{285129F6-623D-7E76-91D0-51B52A37A52E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xmlns="" id="{FCC67D82-2E1E-BB41-CAA4-CE4E3FF9EE73}"/>
              </a:ext>
            </a:extLst>
          </p:cNvPr>
          <p:cNvCxnSpPr>
            <a:cxnSpLocks/>
            <a:stCxn id="52" idx="2"/>
          </p:cNvCxnSpPr>
          <p:nvPr/>
        </p:nvCxnSpPr>
        <p:spPr>
          <a:xfrm flipH="1" flipV="1">
            <a:off x="11722102" y="5969001"/>
            <a:ext cx="895772" cy="36525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xmlns="" id="{16EA363D-8220-3E01-292D-A1D1C2AAC52D}"/>
              </a:ext>
            </a:extLst>
          </p:cNvPr>
          <p:cNvGrpSpPr/>
          <p:nvPr/>
        </p:nvGrpSpPr>
        <p:grpSpPr>
          <a:xfrm>
            <a:off x="12617874" y="7846157"/>
            <a:ext cx="4065851" cy="868276"/>
            <a:chOff x="4384082" y="4490256"/>
            <a:chExt cx="4065851" cy="86827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xmlns="" id="{4A87BFDA-B145-1CCC-3953-73C65720E8D9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상세보기 클릭</a:t>
              </a: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xmlns="" id="{2AE96122-728C-D4D7-D08D-8C17E0435C83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xmlns="" id="{933BA169-35EF-C395-0938-C9C71BCFF5C5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xmlns="" id="{E0FA3576-00DD-6A62-3D7E-2C39A4996FB6}"/>
              </a:ext>
            </a:extLst>
          </p:cNvPr>
          <p:cNvCxnSpPr>
            <a:cxnSpLocks/>
            <a:stCxn id="57" idx="2"/>
          </p:cNvCxnSpPr>
          <p:nvPr/>
        </p:nvCxnSpPr>
        <p:spPr>
          <a:xfrm flipH="1" flipV="1">
            <a:off x="5359400" y="7708900"/>
            <a:ext cx="7258474" cy="5713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xmlns="" id="{D0047A5E-B577-73DA-9C2E-75ED25DF7BD6}"/>
              </a:ext>
            </a:extLst>
          </p:cNvPr>
          <p:cNvGrpSpPr/>
          <p:nvPr/>
        </p:nvGrpSpPr>
        <p:grpSpPr>
          <a:xfrm>
            <a:off x="12623448" y="2008023"/>
            <a:ext cx="4060277" cy="868276"/>
            <a:chOff x="4384082" y="4490256"/>
            <a:chExt cx="4060277" cy="868276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xmlns="" id="{799845B7-FEE7-9B80-59E8-168712B3DB08}"/>
                </a:ext>
              </a:extLst>
            </p:cNvPr>
            <p:cNvSpPr/>
            <p:nvPr/>
          </p:nvSpPr>
          <p:spPr>
            <a:xfrm>
              <a:off x="4852309" y="4568825"/>
              <a:ext cx="35920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검색필터 설정</a:t>
              </a: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xmlns="" id="{8A3CA3A0-EA5D-FDE9-4309-6E9C521BA75D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xmlns="" id="{366A5B38-BF76-DE57-30B9-0ADD17A31F43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xmlns="" id="{A373C927-D465-48FA-7D36-C49A033BE910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9613900" y="2749143"/>
            <a:ext cx="3137125" cy="128349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661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0880CA-F959-B1FF-B66D-26926EA8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ED72EB34-9864-A64E-2433-F1BD95FF4F6F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xmlns="" id="{F6632176-9D19-35D8-7822-73CE1AA14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01A2A3DD-5C74-2507-9BEC-D37386104D15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F941C37B-AE80-8AAC-E3AF-1F8AA5D091BD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5BEF5D9F-A4CE-3443-E45D-FB35AFA0A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51" y="3814253"/>
            <a:ext cx="10653889" cy="5271228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BF091B9-4AC1-4642-1F07-BE9E8E490083}"/>
              </a:ext>
            </a:extLst>
          </p:cNvPr>
          <p:cNvCxnSpPr>
            <a:cxnSpLocks/>
            <a:stCxn id="65" idx="2"/>
          </p:cNvCxnSpPr>
          <p:nvPr/>
        </p:nvCxnSpPr>
        <p:spPr>
          <a:xfrm flipH="1">
            <a:off x="2810617" y="7454795"/>
            <a:ext cx="9159557" cy="74696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xmlns="" id="{B1DD3118-A47D-25DD-26BF-6E5A85D3325A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1587500" y="2810461"/>
            <a:ext cx="10388248" cy="111397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1349538" y="2616808"/>
            <a:ext cx="452559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신규 제품 등록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74F3FD3F-E93D-94D3-F6CF-D7778D6A2B69}"/>
              </a:ext>
            </a:extLst>
          </p:cNvPr>
          <p:cNvGrpSpPr/>
          <p:nvPr/>
        </p:nvGrpSpPr>
        <p:grpSpPr>
          <a:xfrm>
            <a:off x="11970174" y="3924434"/>
            <a:ext cx="4870026" cy="868276"/>
            <a:chOff x="4384082" y="4490256"/>
            <a:chExt cx="4870026" cy="86827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xmlns="" id="{3664D885-AF03-556D-25B2-3D96BFBCA46E}"/>
                </a:ext>
              </a:extLst>
            </p:cNvPr>
            <p:cNvSpPr/>
            <p:nvPr/>
          </p:nvSpPr>
          <p:spPr>
            <a:xfrm>
              <a:off x="4852308" y="4568825"/>
              <a:ext cx="440180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 smtClean="0">
                  <a:solidFill>
                    <a:srgbClr val="8E8791"/>
                  </a:solidFill>
                </a:rPr>
                <a:t>AJAX</a:t>
              </a:r>
              <a:r>
                <a:rPr lang="ko-KR" altLang="en-US" sz="2400" b="1" spc="-150" dirty="0" smtClean="0">
                  <a:solidFill>
                    <a:srgbClr val="8E8791"/>
                  </a:solidFill>
                </a:rPr>
                <a:t>활용  </a:t>
              </a:r>
              <a:r>
                <a:rPr lang="en-US" altLang="ko-KR" sz="2400" b="1" spc="-150" dirty="0" smtClean="0">
                  <a:solidFill>
                    <a:srgbClr val="8E8791"/>
                  </a:solidFill>
                </a:rPr>
                <a:t>SELECT BOX </a:t>
              </a:r>
              <a:r>
                <a:rPr lang="ko-KR" altLang="en-US" sz="2400" b="1" spc="-150" dirty="0" err="1" smtClean="0">
                  <a:solidFill>
                    <a:srgbClr val="8E8791"/>
                  </a:solidFill>
                </a:rPr>
                <a:t>필터링</a:t>
              </a:r>
              <a:endParaRPr lang="ko-KR" altLang="en-US" sz="2400" b="1" spc="-150" dirty="0">
                <a:solidFill>
                  <a:srgbClr val="8E879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xmlns="" id="{E6FBD217-25EE-EE90-DD52-9284B92F9677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xmlns="" id="{A8B5114F-0809-002C-F2B4-A62C64E58A98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xmlns="" id="{329BC909-9457-F115-8D1A-5863D73BA486}"/>
              </a:ext>
            </a:extLst>
          </p:cNvPr>
          <p:cNvGrpSpPr/>
          <p:nvPr/>
        </p:nvGrpSpPr>
        <p:grpSpPr>
          <a:xfrm>
            <a:off x="11970174" y="5472545"/>
            <a:ext cx="4870025" cy="868276"/>
            <a:chOff x="4384082" y="4490256"/>
            <a:chExt cx="4870025" cy="868276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xmlns="" id="{AD9F3579-BB84-61D6-71D8-6DE9D5F06BCA}"/>
                </a:ext>
              </a:extLst>
            </p:cNvPr>
            <p:cNvSpPr/>
            <p:nvPr/>
          </p:nvSpPr>
          <p:spPr>
            <a:xfrm>
              <a:off x="4852309" y="4568825"/>
              <a:ext cx="4401798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제품구성 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추가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xmlns="" id="{263AE475-C3DA-ECE0-C75B-B980B610DBC4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xmlns="" id="{285129F6-623D-7E76-91D0-51B52A37A52E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xmlns="" id="{16EA363D-8220-3E01-292D-A1D1C2AAC52D}"/>
              </a:ext>
            </a:extLst>
          </p:cNvPr>
          <p:cNvGrpSpPr/>
          <p:nvPr/>
        </p:nvGrpSpPr>
        <p:grpSpPr>
          <a:xfrm>
            <a:off x="11970174" y="7020657"/>
            <a:ext cx="4870025" cy="868276"/>
            <a:chOff x="4384082" y="4490256"/>
            <a:chExt cx="4870025" cy="868276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xmlns="" id="{4A87BFDA-B145-1CCC-3953-73C65720E8D9}"/>
                </a:ext>
              </a:extLst>
            </p:cNvPr>
            <p:cNvSpPr/>
            <p:nvPr/>
          </p:nvSpPr>
          <p:spPr>
            <a:xfrm>
              <a:off x="4852308" y="4568825"/>
              <a:ext cx="440179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초기화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xmlns="" id="{2AE96122-728C-D4D7-D08D-8C17E0435C83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xmlns="" id="{933BA169-35EF-C395-0938-C9C71BCFF5C5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xmlns="" id="{D0047A5E-B577-73DA-9C2E-75ED25DF7BD6}"/>
              </a:ext>
            </a:extLst>
          </p:cNvPr>
          <p:cNvGrpSpPr/>
          <p:nvPr/>
        </p:nvGrpSpPr>
        <p:grpSpPr>
          <a:xfrm>
            <a:off x="11975748" y="2376323"/>
            <a:ext cx="4864451" cy="868276"/>
            <a:chOff x="4384082" y="4490256"/>
            <a:chExt cx="4864451" cy="868276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xmlns="" id="{799845B7-FEE7-9B80-59E8-168712B3DB08}"/>
                </a:ext>
              </a:extLst>
            </p:cNvPr>
            <p:cNvSpPr/>
            <p:nvPr/>
          </p:nvSpPr>
          <p:spPr>
            <a:xfrm>
              <a:off x="4852308" y="4568825"/>
              <a:ext cx="4396225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목록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xmlns="" id="{8A3CA3A0-EA5D-FDE9-4309-6E9C521BA75D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xmlns="" id="{366A5B38-BF76-DE57-30B9-0ADD17A31F43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xmlns="" id="{16EA363D-8220-3E01-292D-A1D1C2AAC52D}"/>
              </a:ext>
            </a:extLst>
          </p:cNvPr>
          <p:cNvGrpSpPr/>
          <p:nvPr/>
        </p:nvGrpSpPr>
        <p:grpSpPr>
          <a:xfrm>
            <a:off x="11970174" y="8201757"/>
            <a:ext cx="4870025" cy="868276"/>
            <a:chOff x="4384082" y="4490256"/>
            <a:chExt cx="4870025" cy="868276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xmlns="" id="{4A87BFDA-B145-1CCC-3953-73C65720E8D9}"/>
                </a:ext>
              </a:extLst>
            </p:cNvPr>
            <p:cNvSpPr/>
            <p:nvPr/>
          </p:nvSpPr>
          <p:spPr>
            <a:xfrm>
              <a:off x="4852309" y="4568825"/>
              <a:ext cx="4401798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등록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xmlns="" id="{2AE96122-728C-D4D7-D08D-8C17E0435C83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xmlns="" id="{933BA169-35EF-C395-0938-C9C71BCFF5C5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05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xmlns="" id="{B1DD3118-A47D-25DD-26BF-6E5A85D3325A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6159500" y="4358572"/>
            <a:ext cx="5810674" cy="274065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xmlns="" id="{B1DD3118-A47D-25DD-26BF-6E5A85D3325A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11188700" y="5906683"/>
            <a:ext cx="781474" cy="67191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xmlns="" id="{1BF091B9-4AC1-4642-1F07-BE9E8E490083}"/>
              </a:ext>
            </a:extLst>
          </p:cNvPr>
          <p:cNvCxnSpPr>
            <a:cxnSpLocks/>
            <a:stCxn id="73" idx="2"/>
          </p:cNvCxnSpPr>
          <p:nvPr/>
        </p:nvCxnSpPr>
        <p:spPr>
          <a:xfrm flipH="1" flipV="1">
            <a:off x="10718800" y="8339349"/>
            <a:ext cx="1251374" cy="29654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920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885C426-1538-360A-585C-8D16D6C2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59A98EB0-AC64-7115-5EC6-79D54A4B9653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xmlns="" id="{ADD2B0AB-E8EF-0567-106D-4C1F88D35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302031E4-5F9E-45F0-6476-F27E955D386C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5B3BFED9-245C-7CB0-913D-08631FEDC61D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80D9478D-E193-4499-77C4-B09D4A9F8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23" y="3542680"/>
            <a:ext cx="11011600" cy="5510729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관리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xmlns="" id="{976BA834-86FC-41F7-3A3D-A4B1914268CC}"/>
              </a:ext>
            </a:extLst>
          </p:cNvPr>
          <p:cNvCxnSpPr>
            <a:cxnSpLocks/>
            <a:stCxn id="64" idx="2"/>
          </p:cNvCxnSpPr>
          <p:nvPr/>
        </p:nvCxnSpPr>
        <p:spPr>
          <a:xfrm flipH="1">
            <a:off x="9043848" y="6732183"/>
            <a:ext cx="3574026" cy="181532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xmlns="" id="{906BD21F-78B0-3B73-911D-F7351E1FE2BA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2676018" y="5184072"/>
            <a:ext cx="9941856" cy="3382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xmlns="" id="{74F3FD3F-E93D-94D3-F6CF-D7778D6A2B69}"/>
              </a:ext>
            </a:extLst>
          </p:cNvPr>
          <p:cNvGrpSpPr/>
          <p:nvPr/>
        </p:nvGrpSpPr>
        <p:grpSpPr>
          <a:xfrm>
            <a:off x="12617874" y="4749934"/>
            <a:ext cx="4065851" cy="868276"/>
            <a:chOff x="4384082" y="4490256"/>
            <a:chExt cx="4065851" cy="86827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xmlns="" id="{3664D885-AF03-556D-25B2-3D96BFBCA46E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삭제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xmlns="" id="{E6FBD217-25EE-EE90-DD52-9284B92F9677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xmlns="" id="{A8B5114F-0809-002C-F2B4-A62C64E58A98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xmlns="" id="{329BC909-9457-F115-8D1A-5863D73BA486}"/>
              </a:ext>
            </a:extLst>
          </p:cNvPr>
          <p:cNvGrpSpPr/>
          <p:nvPr/>
        </p:nvGrpSpPr>
        <p:grpSpPr>
          <a:xfrm>
            <a:off x="12617874" y="6298045"/>
            <a:ext cx="4065851" cy="868276"/>
            <a:chOff x="4384082" y="4490256"/>
            <a:chExt cx="4065851" cy="868276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xmlns="" id="{AD9F3579-BB84-61D6-71D8-6DE9D5F06BCA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수정페이지 이동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xmlns="" id="{263AE475-C3DA-ECE0-C75B-B980B610DBC4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xmlns="" id="{285129F6-623D-7E76-91D0-51B52A37A52E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xmlns="" id="{D0047A5E-B577-73DA-9C2E-75ED25DF7BD6}"/>
              </a:ext>
            </a:extLst>
          </p:cNvPr>
          <p:cNvGrpSpPr/>
          <p:nvPr/>
        </p:nvGrpSpPr>
        <p:grpSpPr>
          <a:xfrm>
            <a:off x="12623448" y="3201823"/>
            <a:ext cx="4060277" cy="868276"/>
            <a:chOff x="4384082" y="4490256"/>
            <a:chExt cx="4060277" cy="868276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xmlns="" id="{799845B7-FEE7-9B80-59E8-168712B3DB08}"/>
                </a:ext>
              </a:extLst>
            </p:cNvPr>
            <p:cNvSpPr/>
            <p:nvPr/>
          </p:nvSpPr>
          <p:spPr>
            <a:xfrm>
              <a:off x="4852309" y="4568825"/>
              <a:ext cx="35920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목록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xmlns="" id="{8A3CA3A0-EA5D-FDE9-4309-6E9C521BA75D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xmlns="" id="{366A5B38-BF76-DE57-30B9-0ADD17A31F43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xmlns="" id="{906BD21F-78B0-3B73-911D-F7351E1FE2BA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1498600" y="3635961"/>
            <a:ext cx="11124848" cy="8066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759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561CE0-6798-653B-E698-D748BFEA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EB5A7630-90B2-C6E4-0BC0-C5E6E368AF10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xmlns="" id="{16E617B1-BACC-4665-C527-0F7F2870C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415F45CC-7B00-26FD-92F2-D343F06467F9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B75D1882-1602-C9E0-F017-2AD2DF58D57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5957D088-F833-276F-120C-EB7C161FD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" y="3543001"/>
            <a:ext cx="11132820" cy="5591260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수정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61A4E5E5-CDD4-CAB0-C5EA-C78D3AC42412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8575887" y="8280295"/>
            <a:ext cx="4041987" cy="43413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321C6DE0-82EE-C079-8C1C-3325B43619D8}"/>
              </a:ext>
            </a:extLst>
          </p:cNvPr>
          <p:cNvCxnSpPr>
            <a:cxnSpLocks/>
            <a:stCxn id="34" idx="2"/>
          </p:cNvCxnSpPr>
          <p:nvPr/>
        </p:nvCxnSpPr>
        <p:spPr>
          <a:xfrm flipH="1" flipV="1">
            <a:off x="4533900" y="4279900"/>
            <a:ext cx="8083974" cy="90417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13FD3C81-A19A-DF73-126E-496E66E57E05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1349538" y="3635961"/>
            <a:ext cx="11273910" cy="3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74F3FD3F-E93D-94D3-F6CF-D7778D6A2B69}"/>
              </a:ext>
            </a:extLst>
          </p:cNvPr>
          <p:cNvGrpSpPr/>
          <p:nvPr/>
        </p:nvGrpSpPr>
        <p:grpSpPr>
          <a:xfrm>
            <a:off x="12617874" y="4749934"/>
            <a:ext cx="4065851" cy="868276"/>
            <a:chOff x="4384082" y="4490256"/>
            <a:chExt cx="4065851" cy="868276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xmlns="" id="{3664D885-AF03-556D-25B2-3D96BFBCA46E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이미지 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파일삭제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xmlns="" id="{E6FBD217-25EE-EE90-DD52-9284B92F9677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xmlns="" id="{A8B5114F-0809-002C-F2B4-A62C64E58A98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xmlns="" id="{329BC909-9457-F115-8D1A-5863D73BA486}"/>
              </a:ext>
            </a:extLst>
          </p:cNvPr>
          <p:cNvGrpSpPr/>
          <p:nvPr/>
        </p:nvGrpSpPr>
        <p:grpSpPr>
          <a:xfrm>
            <a:off x="12617874" y="6298045"/>
            <a:ext cx="4065851" cy="868276"/>
            <a:chOff x="4384082" y="4490256"/>
            <a:chExt cx="4065851" cy="86827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xmlns="" id="{AD9F3579-BB84-61D6-71D8-6DE9D5F06BCA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삭제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xmlns="" id="{263AE475-C3DA-ECE0-C75B-B980B610DBC4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285129F6-623D-7E76-91D0-51B52A37A52E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16EA363D-8220-3E01-292D-A1D1C2AAC52D}"/>
              </a:ext>
            </a:extLst>
          </p:cNvPr>
          <p:cNvGrpSpPr/>
          <p:nvPr/>
        </p:nvGrpSpPr>
        <p:grpSpPr>
          <a:xfrm>
            <a:off x="12617874" y="7846157"/>
            <a:ext cx="4065851" cy="868276"/>
            <a:chOff x="4384082" y="4490256"/>
            <a:chExt cx="4065851" cy="86827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xmlns="" id="{4A87BFDA-B145-1CCC-3953-73C65720E8D9}"/>
                </a:ext>
              </a:extLst>
            </p:cNvPr>
            <p:cNvSpPr/>
            <p:nvPr/>
          </p:nvSpPr>
          <p:spPr>
            <a:xfrm>
              <a:off x="4852309" y="4568825"/>
              <a:ext cx="359762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수정 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클릭</a:t>
              </a: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xmlns="" id="{2AE96122-728C-D4D7-D08D-8C17E0435C83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xmlns="" id="{933BA169-35EF-C395-0938-C9C71BCFF5C5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D0047A5E-B577-73DA-9C2E-75ED25DF7BD6}"/>
              </a:ext>
            </a:extLst>
          </p:cNvPr>
          <p:cNvGrpSpPr/>
          <p:nvPr/>
        </p:nvGrpSpPr>
        <p:grpSpPr>
          <a:xfrm>
            <a:off x="12623448" y="3201823"/>
            <a:ext cx="4060277" cy="868276"/>
            <a:chOff x="4384082" y="4490256"/>
            <a:chExt cx="4060277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799845B7-FEE7-9B80-59E8-168712B3DB08}"/>
                </a:ext>
              </a:extLst>
            </p:cNvPr>
            <p:cNvSpPr/>
            <p:nvPr/>
          </p:nvSpPr>
          <p:spPr>
            <a:xfrm>
              <a:off x="4852309" y="4568825"/>
              <a:ext cx="35920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목록 버튼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8A3CA3A0-EA5D-FDE9-4309-6E9C521BA75D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366A5B38-BF76-DE57-30B9-0ADD17A31F43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xmlns="" id="{321C6DE0-82EE-C079-8C1C-3325B43619D8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3073400" y="6732183"/>
            <a:ext cx="9544474" cy="198225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135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6169128" y="2807667"/>
            <a:ext cx="4769032" cy="868276"/>
            <a:chOff x="4384082" y="4490256"/>
            <a:chExt cx="5571577" cy="86827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다중 검색 기능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460574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거래처 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목록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367778" y="2759392"/>
            <a:ext cx="2860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Mapper.xml </a:t>
            </a:r>
            <a:r>
              <a:rPr lang="ko-KR" altLang="en-US" b="1" dirty="0">
                <a:latin typeface="+mn-ea"/>
              </a:rPr>
              <a:t>에서 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b="1" dirty="0" smtClean="0">
                <a:latin typeface="+mn-ea"/>
              </a:rPr>
              <a:t>동적 </a:t>
            </a:r>
            <a:r>
              <a:rPr lang="en-US" altLang="ko-KR" b="1" dirty="0">
                <a:latin typeface="+mn-ea"/>
              </a:rPr>
              <a:t>SQL </a:t>
            </a:r>
            <a:r>
              <a:rPr lang="ko-KR" altLang="en-US" b="1" dirty="0">
                <a:latin typeface="+mn-ea"/>
              </a:rPr>
              <a:t>태그를 </a:t>
            </a:r>
            <a:r>
              <a:rPr lang="ko-KR" altLang="en-US" b="1" dirty="0" smtClean="0">
                <a:latin typeface="+mn-ea"/>
              </a:rPr>
              <a:t>통해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b="1" dirty="0" smtClean="0">
                <a:latin typeface="+mn-ea"/>
              </a:rPr>
              <a:t>다중 </a:t>
            </a:r>
            <a:r>
              <a:rPr lang="ko-KR" altLang="en-US" b="1" dirty="0">
                <a:latin typeface="+mn-ea"/>
              </a:rPr>
              <a:t>검색 구현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46121" y="4406767"/>
            <a:ext cx="4725566" cy="868276"/>
            <a:chOff x="4384082" y="4490256"/>
            <a:chExt cx="5571576" cy="86827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4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dirty="0" smtClean="0">
                  <a:solidFill>
                    <a:srgbClr val="8E8791"/>
                  </a:solidFill>
                </a:rPr>
                <a:t>  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행 클릭 시 상세 페이지로 이동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87446"/>
            <a:ext cx="10693400" cy="4850642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>
            <a:off x="8796558" y="3603786"/>
            <a:ext cx="1000381" cy="94884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8258822" y="3603786"/>
            <a:ext cx="495213" cy="94884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6780215" y="3603786"/>
            <a:ext cx="1973820" cy="97387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>
            <a:off x="9931403" y="4840905"/>
            <a:ext cx="2214718" cy="136516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3252" y="5476983"/>
            <a:ext cx="4179410" cy="425472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5682" y="7269211"/>
            <a:ext cx="4476980" cy="171459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46121" y="6157719"/>
            <a:ext cx="4725566" cy="868276"/>
            <a:chOff x="4384082" y="4490256"/>
            <a:chExt cx="5571576" cy="868276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4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수정란 클릭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상세 페이지 이동 제외 기능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46" idx="2"/>
          </p:cNvCxnSpPr>
          <p:nvPr/>
        </p:nvCxnSpPr>
        <p:spPr>
          <a:xfrm flipH="1">
            <a:off x="11861604" y="6591857"/>
            <a:ext cx="284517" cy="31818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39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73941" y="5172194"/>
            <a:ext cx="4736555" cy="868276"/>
            <a:chOff x="4384082" y="4490256"/>
            <a:chExt cx="5571579" cy="86827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삭제 클릭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논리적 삭제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(UPDATE)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진행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거래처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90182" y="7431103"/>
            <a:ext cx="4730225" cy="868276"/>
            <a:chOff x="4384082" y="4490256"/>
            <a:chExt cx="5571580" cy="86827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3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수정 페이지로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31" idx="2"/>
          </p:cNvCxnSpPr>
          <p:nvPr/>
        </p:nvCxnSpPr>
        <p:spPr>
          <a:xfrm flipH="1">
            <a:off x="11326322" y="7865241"/>
            <a:ext cx="863860" cy="51839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955176" y="6243603"/>
            <a:ext cx="296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DEL_STATUS 0 -&gt; 1 UPDATE 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52237"/>
            <a:ext cx="10732820" cy="4882214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4599777" y="5968313"/>
            <a:ext cx="10141468" cy="242478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2002703" y="8238266"/>
            <a:ext cx="2854785" cy="32231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0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460574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거래처 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등록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9931403" y="4840905"/>
            <a:ext cx="2214718" cy="136516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1861604" y="6591857"/>
            <a:ext cx="284517" cy="31818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75" y="4073526"/>
            <a:ext cx="10710346" cy="4861874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89465" y="5554226"/>
            <a:ext cx="4730533" cy="868276"/>
            <a:chOff x="4384082" y="4490256"/>
            <a:chExt cx="5526597" cy="868276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07330" y="4568825"/>
              <a:ext cx="510334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rgbClr val="8E8791"/>
                  </a:solidFill>
                </a:rPr>
                <a:t> 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필수 입력란 메시지 출력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12815871" y="6494659"/>
            <a:ext cx="26597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저장 버튼 클릭 시 </a:t>
            </a:r>
            <a:endParaRPr lang="en-US" altLang="ko-KR" b="1" dirty="0" smtClean="0"/>
          </a:p>
          <a:p>
            <a:r>
              <a:rPr lang="ko-KR" altLang="en-US" b="1" dirty="0" smtClean="0"/>
              <a:t>유효성 검사 </a:t>
            </a:r>
            <a:r>
              <a:rPr lang="en-US" altLang="ko-KR" b="1" dirty="0" smtClean="0"/>
              <a:t>JS </a:t>
            </a:r>
            <a:r>
              <a:rPr lang="ko-KR" altLang="en-US" b="1" dirty="0" smtClean="0"/>
              <a:t>함수 호출</a:t>
            </a:r>
            <a:endParaRPr lang="en-US" altLang="ko-KR" b="1" dirty="0" smtClean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6756" y="7471073"/>
            <a:ext cx="4769032" cy="868276"/>
            <a:chOff x="4384083" y="4490256"/>
            <a:chExt cx="5571576" cy="868276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10" y="4568825"/>
              <a:ext cx="510334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rgbClr val="8E8791"/>
                  </a:solidFill>
                </a:rPr>
                <a:t> 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등록 시 거래처 및 거래처 이력 테이블에 등록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3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2954931" y="5991430"/>
            <a:ext cx="9166191" cy="2115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55" idx="2"/>
          </p:cNvCxnSpPr>
          <p:nvPr/>
        </p:nvCxnSpPr>
        <p:spPr>
          <a:xfrm flipH="1">
            <a:off x="11000263" y="7905211"/>
            <a:ext cx="1156493" cy="44545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7827006" y="2885877"/>
            <a:ext cx="4769032" cy="868276"/>
            <a:chOff x="4384082" y="4490256"/>
            <a:chExt cx="5571577" cy="868276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팝업을 통한 사원 선택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2647691" y="2894942"/>
            <a:ext cx="2860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JS</a:t>
            </a:r>
            <a:r>
              <a:rPr lang="ko-KR" altLang="en-US" b="1" dirty="0" smtClean="0">
                <a:latin typeface="+mn-ea"/>
              </a:rPr>
              <a:t>의 </a:t>
            </a:r>
            <a:r>
              <a:rPr lang="en-US" altLang="ko-KR" b="1" dirty="0" err="1" smtClean="0">
                <a:latin typeface="+mn-ea"/>
              </a:rPr>
              <a:t>window.open</a:t>
            </a:r>
            <a:r>
              <a:rPr lang="en-US" altLang="ko-KR" b="1" dirty="0" smtClean="0">
                <a:latin typeface="+mn-ea"/>
              </a:rPr>
              <a:t>()</a:t>
            </a:r>
          </a:p>
          <a:p>
            <a:r>
              <a:rPr lang="ko-KR" altLang="en-US" b="1" dirty="0" smtClean="0">
                <a:latin typeface="+mn-ea"/>
              </a:rPr>
              <a:t>기능을 이용해 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b="1" dirty="0" smtClean="0">
                <a:latin typeface="+mn-ea"/>
              </a:rPr>
              <a:t>팝업 호출</a:t>
            </a:r>
            <a:endParaRPr lang="ko-KR" altLang="en-US" b="1" dirty="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60" idx="2"/>
          </p:cNvCxnSpPr>
          <p:nvPr/>
        </p:nvCxnSpPr>
        <p:spPr>
          <a:xfrm flipH="1">
            <a:off x="6660683" y="3681996"/>
            <a:ext cx="3751230" cy="183393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12452332" y="8412482"/>
            <a:ext cx="4514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이력은 기존 입력 정보에 </a:t>
            </a:r>
            <a:r>
              <a:rPr lang="en-US" altLang="ko-KR" b="1" dirty="0" smtClean="0"/>
              <a:t>+ (</a:t>
            </a:r>
            <a:r>
              <a:rPr lang="ko-KR" altLang="en-US" b="1" dirty="0" smtClean="0"/>
              <a:t>시작일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마감일</a:t>
            </a:r>
            <a:r>
              <a:rPr lang="en-US" altLang="ko-KR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240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6508568" y="2775787"/>
            <a:ext cx="4769034" cy="868276"/>
            <a:chOff x="4384082" y="4490256"/>
            <a:chExt cx="5571579" cy="86827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사원 명 검색 기능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사원 선택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89400"/>
            <a:ext cx="10719514" cy="4845051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>
            <a:off x="9093476" y="3571906"/>
            <a:ext cx="2777828" cy="131887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26913" y="5772055"/>
            <a:ext cx="4769034" cy="868276"/>
            <a:chOff x="4384082" y="4490256"/>
            <a:chExt cx="5571579" cy="868276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선택 시 영업 담당자 입력란에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사원명 자동 삽입 및 창 닫힘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36" idx="0"/>
          </p:cNvCxnSpPr>
          <p:nvPr/>
        </p:nvCxnSpPr>
        <p:spPr>
          <a:xfrm flipH="1" flipV="1">
            <a:off x="11962702" y="5444455"/>
            <a:ext cx="2749119" cy="40616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33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6508568" y="2775787"/>
            <a:ext cx="4769034" cy="868276"/>
            <a:chOff x="4384082" y="4490256"/>
            <a:chExt cx="5571579" cy="86827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수정 시작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기존 정보 자동 입력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거래처 수정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4"/>
            <a:ext cx="10693400" cy="486092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8254767" y="3571906"/>
            <a:ext cx="838709" cy="125176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551963" y="4823670"/>
            <a:ext cx="10410739" cy="3263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41462" y="7376995"/>
            <a:ext cx="4769034" cy="868276"/>
            <a:chOff x="4384082" y="4490256"/>
            <a:chExt cx="5571580" cy="86827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3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수정 시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기존 이력 마감 및 새 이력 생성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31" idx="2"/>
          </p:cNvCxnSpPr>
          <p:nvPr/>
        </p:nvCxnSpPr>
        <p:spPr>
          <a:xfrm flipH="1">
            <a:off x="11277602" y="7811133"/>
            <a:ext cx="863860" cy="51839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158202" y="8276722"/>
            <a:ext cx="2965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기존 이력은 마감일 </a:t>
            </a:r>
            <a:r>
              <a:rPr lang="en-US" altLang="ko-KR" b="1" dirty="0" smtClean="0"/>
              <a:t>UPDATE</a:t>
            </a:r>
            <a:r>
              <a:rPr lang="ko-KR" altLang="en-US" b="1" dirty="0" smtClean="0"/>
              <a:t> 및 새 이력 </a:t>
            </a:r>
            <a:r>
              <a:rPr lang="en-US" altLang="ko-KR" b="1" dirty="0" smtClean="0"/>
              <a:t>INSERT</a:t>
            </a:r>
            <a:endParaRPr lang="ko-KR" altLang="en-US" b="1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26913" y="4580850"/>
            <a:ext cx="4769034" cy="868276"/>
            <a:chOff x="4384082" y="4490256"/>
            <a:chExt cx="5571579" cy="86827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취소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거래처 목록으로 이동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4417996" y="5393413"/>
            <a:ext cx="10286464" cy="289000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79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5457770" y="2441029"/>
            <a:ext cx="4736555" cy="868276"/>
            <a:chOff x="4384082" y="4490256"/>
            <a:chExt cx="5571579" cy="86827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목록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094134" y="2731817"/>
            <a:ext cx="4730225" cy="868276"/>
            <a:chOff x="4384082" y="4490256"/>
            <a:chExt cx="5571580" cy="86827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3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 dirty="0" smtClean="0">
                  <a:solidFill>
                    <a:schemeClr val="tx1"/>
                  </a:solidFill>
                </a:rPr>
                <a:t>        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출고 상태 별 도트 색상 변동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372469" y="2565341"/>
            <a:ext cx="367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월 마감 시 </a:t>
            </a:r>
            <a:endParaRPr lang="en-US" altLang="ko-KR" sz="2000" b="1" dirty="0" smtClean="0"/>
          </a:p>
          <a:p>
            <a:r>
              <a:rPr lang="ko-KR" altLang="en-US" sz="2000" b="1" dirty="0" smtClean="0"/>
              <a:t>수주 등록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수정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취소 불가 기능</a:t>
            </a:r>
            <a:endParaRPr lang="ko-KR" altLang="en-US" sz="2000" b="1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5"/>
            <a:ext cx="10694024" cy="486092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3806205" y="3237148"/>
            <a:ext cx="4218869" cy="100575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9402495" y="3600093"/>
            <a:ext cx="4209807" cy="184720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07548" y="3400815"/>
            <a:ext cx="2880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등록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수정 버튼 클릭 시</a:t>
            </a:r>
            <a:endParaRPr lang="en-US" altLang="ko-KR" b="1" dirty="0" smtClean="0"/>
          </a:p>
          <a:p>
            <a:r>
              <a:rPr lang="ko-KR" altLang="en-US" b="1" dirty="0" smtClean="0"/>
              <a:t>불가 메시지 출력</a:t>
            </a:r>
            <a:endParaRPr lang="ko-KR" altLang="en-US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81746" y="4960699"/>
            <a:ext cx="4730225" cy="868276"/>
            <a:chOff x="4384082" y="4490256"/>
            <a:chExt cx="5571580" cy="86827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3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 dirty="0" smtClean="0">
                  <a:solidFill>
                    <a:schemeClr val="tx1"/>
                  </a:solidFill>
                </a:rPr>
                <a:t>        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출고 상태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완료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,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마감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에 따라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      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수정 버튼 비활성화 기능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1833734" y="5794618"/>
            <a:ext cx="2883367" cy="50778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72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976511" y="2801058"/>
            <a:ext cx="4736555" cy="868276"/>
            <a:chOff x="4384082" y="4490256"/>
            <a:chExt cx="5571579" cy="86827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승인 클릭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출고 상태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승인으로 변경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6"/>
            <a:ext cx="10693401" cy="4860924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5352176" y="3597177"/>
            <a:ext cx="9191639" cy="502947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2502568" y="3652592"/>
            <a:ext cx="5801947" cy="382401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2810934" y="3608800"/>
            <a:ext cx="5626827" cy="101217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28911" y="5196149"/>
            <a:ext cx="4736555" cy="868276"/>
            <a:chOff x="4384082" y="4490256"/>
            <a:chExt cx="5571579" cy="868276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가용 부품 재고 부족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부품 부족 안내 페이지로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44" idx="2"/>
          </p:cNvCxnSpPr>
          <p:nvPr/>
        </p:nvCxnSpPr>
        <p:spPr>
          <a:xfrm flipH="1">
            <a:off x="6573618" y="5630287"/>
            <a:ext cx="5555293" cy="299636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65809" y="7032969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수주 취소 클릭 시 논리적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삭제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진행 후 수주 목록 페이지로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0977185" y="7554407"/>
            <a:ext cx="1204779" cy="10722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6573618" y="2809778"/>
            <a:ext cx="4736555" cy="868276"/>
            <a:chOff x="4384082" y="4490256"/>
            <a:chExt cx="5571579" cy="86827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거래처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,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제품으로 테이블 분할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534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부족 안내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5914438" y="2683606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부족 부품에 대해 필요 정보 출력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685" y="4047068"/>
            <a:ext cx="7110299" cy="4887382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557867" y="5517013"/>
            <a:ext cx="6873864" cy="468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515" y="4073525"/>
            <a:ext cx="6535553" cy="4860925"/>
          </a:xfrm>
          <a:prstGeom prst="rect">
            <a:avLst/>
          </a:prstGeom>
        </p:spPr>
      </p:pic>
      <p:sp>
        <p:nvSpPr>
          <p:cNvPr id="19" name="오른쪽 화살표 18"/>
          <p:cNvSpPr/>
          <p:nvPr/>
        </p:nvSpPr>
        <p:spPr>
          <a:xfrm>
            <a:off x="8643486" y="6208295"/>
            <a:ext cx="962527" cy="500513"/>
          </a:xfrm>
          <a:prstGeom prst="rightArrow">
            <a:avLst/>
          </a:prstGeom>
          <a:solidFill>
            <a:srgbClr val="262F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959561" y="2676773"/>
            <a:ext cx="4736555" cy="868276"/>
            <a:chOff x="4384082" y="4490256"/>
            <a:chExt cx="5571579" cy="868276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발주로 이동 클릭 시 부품 정보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>
                  <a:solidFill>
                    <a:schemeClr val="tx1"/>
                  </a:solidFill>
                </a:rPr>
                <a:t>발주 등록 페이지에 자동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입력</a:t>
              </a:r>
              <a:endParaRPr lang="en-US" altLang="ko-K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7314869" y="3479725"/>
            <a:ext cx="154196" cy="203728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944584" y="6852841"/>
            <a:ext cx="3684789" cy="1329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41" idx="2"/>
          </p:cNvCxnSpPr>
          <p:nvPr/>
        </p:nvCxnSpPr>
        <p:spPr>
          <a:xfrm flipH="1">
            <a:off x="13260684" y="3472892"/>
            <a:ext cx="1266181" cy="337994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54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976511" y="2801058"/>
            <a:ext cx="4736555" cy="868276"/>
            <a:chOff x="4384082" y="4490256"/>
            <a:chExt cx="5571579" cy="86827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2000" b="1" dirty="0" err="1" smtClean="0">
                  <a:solidFill>
                    <a:schemeClr val="tx1"/>
                  </a:solidFill>
                </a:rPr>
                <a:t>재수주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 요청 시 요청 상태로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변경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후 수정 페이지로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5638059" y="2442815"/>
            <a:ext cx="4736555" cy="868276"/>
            <a:chOff x="4384082" y="4490256"/>
            <a:chExt cx="5571579" cy="868276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완료 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클릭 시</a:t>
              </a:r>
              <a:endParaRPr lang="en-US" altLang="ko-KR" sz="20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>
                  <a:solidFill>
                    <a:schemeClr val="tx1"/>
                  </a:solidFill>
                </a:rPr>
                <a:t>출고 상태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완료로 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변경</a:t>
              </a:r>
              <a:endParaRPr lang="en-US" altLang="ko-K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35132" y="5136065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승인 취소 클릭 시 요청 상태로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변경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73524"/>
            <a:ext cx="10693400" cy="4860925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3821230" y="3273711"/>
            <a:ext cx="2557419" cy="525860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58869" y="3233293"/>
            <a:ext cx="3867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+mn-ea"/>
              </a:rPr>
              <a:t>완료 시 </a:t>
            </a:r>
            <a:r>
              <a:rPr lang="en-US" altLang="ko-KR" b="1" dirty="0" smtClean="0">
                <a:latin typeface="+mn-ea"/>
              </a:rPr>
              <a:t>UPDATE</a:t>
            </a:r>
            <a:r>
              <a:rPr lang="ko-KR" altLang="en-US" b="1" dirty="0" smtClean="0">
                <a:latin typeface="+mn-ea"/>
              </a:rPr>
              <a:t>를 통해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b="1" dirty="0" smtClean="0">
                <a:latin typeface="+mn-ea"/>
              </a:rPr>
              <a:t>출고 대기 수량 </a:t>
            </a:r>
            <a:r>
              <a:rPr lang="en-US" altLang="ko-KR" b="1" dirty="0" smtClean="0">
                <a:latin typeface="+mn-ea"/>
              </a:rPr>
              <a:t>-&gt; </a:t>
            </a:r>
            <a:r>
              <a:rPr lang="ko-KR" altLang="en-US" b="1" dirty="0" smtClean="0">
                <a:latin typeface="+mn-ea"/>
              </a:rPr>
              <a:t>출고 수량으로 이동</a:t>
            </a:r>
            <a:endParaRPr lang="ko-KR" altLang="en-US" b="1" dirty="0"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5638059" y="3597177"/>
            <a:ext cx="8905756" cy="501212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8063187" y="5968263"/>
            <a:ext cx="6634948" cy="256405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38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35132" y="5136065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완료 취소 클릭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승인 상태로 변경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5"/>
            <a:ext cx="10722514" cy="4860925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8633861" y="5932184"/>
            <a:ext cx="6064273" cy="260477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9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등록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920" y="4095728"/>
            <a:ext cx="10693716" cy="4871319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1617044" y="5370897"/>
            <a:ext cx="10263777" cy="981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81478" y="3664124"/>
            <a:ext cx="4736555" cy="868276"/>
            <a:chOff x="4384082" y="4490256"/>
            <a:chExt cx="5571579" cy="86827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 조회 클릭 시 제품 팝업 창으로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72698" y="6822246"/>
            <a:ext cx="4736555" cy="868276"/>
            <a:chOff x="4384082" y="4490256"/>
            <a:chExt cx="5571579" cy="86827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각 버튼 클릭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동적 행 추가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or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삭제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05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39" idx="2"/>
          </p:cNvCxnSpPr>
          <p:nvPr/>
        </p:nvCxnSpPr>
        <p:spPr>
          <a:xfrm flipH="1">
            <a:off x="11536716" y="7256384"/>
            <a:ext cx="635982" cy="50693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39" idx="2"/>
          </p:cNvCxnSpPr>
          <p:nvPr/>
        </p:nvCxnSpPr>
        <p:spPr>
          <a:xfrm flipH="1">
            <a:off x="11796583" y="7256384"/>
            <a:ext cx="376115" cy="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5917882" y="2660233"/>
            <a:ext cx="4736555" cy="868276"/>
            <a:chOff x="4384082" y="4490256"/>
            <a:chExt cx="5571579" cy="86827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조회 시 거래처 팝업 창으로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155787" y="2680697"/>
            <a:ext cx="4736555" cy="868276"/>
            <a:chOff x="4384082" y="4490256"/>
            <a:chExt cx="5571579" cy="868276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납기일은 금일 이후 날짜 </a:t>
              </a:r>
              <a:r>
                <a:rPr lang="ko-KR" altLang="en-US" sz="2000" b="1" dirty="0" err="1" smtClean="0">
                  <a:solidFill>
                    <a:schemeClr val="tx1"/>
                  </a:solidFill>
                </a:rPr>
                <a:t>부터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선택 가능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658472" y="3578346"/>
            <a:ext cx="404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거래처 관련 정보는 수기 입력 불가</a:t>
            </a:r>
            <a:endParaRPr lang="ko-KR" altLang="en-US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72" idx="2"/>
          </p:cNvCxnSpPr>
          <p:nvPr/>
        </p:nvCxnSpPr>
        <p:spPr>
          <a:xfrm flipH="1" flipV="1">
            <a:off x="10784203" y="8268490"/>
            <a:ext cx="1370808" cy="14079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27" idx="2"/>
          </p:cNvCxnSpPr>
          <p:nvPr/>
        </p:nvCxnSpPr>
        <p:spPr>
          <a:xfrm flipH="1">
            <a:off x="6196538" y="4098262"/>
            <a:ext cx="5984940" cy="361247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5020852" y="3514628"/>
            <a:ext cx="7115703" cy="315840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5020852" y="3533459"/>
            <a:ext cx="1157230" cy="209923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5011" y="7975151"/>
            <a:ext cx="4736555" cy="868276"/>
            <a:chOff x="4384082" y="4490256"/>
            <a:chExt cx="5571579" cy="868276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 값 입력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자동 합계 계산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06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5011" y="5099089"/>
            <a:ext cx="4736555" cy="868276"/>
            <a:chOff x="4384082" y="4490256"/>
            <a:chExt cx="5571579" cy="868276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>
                  <a:solidFill>
                    <a:schemeClr val="tx1"/>
                  </a:solidFill>
                </a:rPr>
                <a:t> 제품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중복 선택 시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2000" b="1" dirty="0" smtClean="0">
                  <a:solidFill>
                    <a:schemeClr val="tx1"/>
                  </a:solidFill>
                </a:rPr>
                <a:t>“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이미 선택된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제품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”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 메시지 출력</a:t>
              </a:r>
              <a:endParaRPr lang="en-US" altLang="ko-K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89" name="직사각형 88"/>
          <p:cNvSpPr/>
          <p:nvPr/>
        </p:nvSpPr>
        <p:spPr>
          <a:xfrm>
            <a:off x="1791440" y="8008993"/>
            <a:ext cx="8992763" cy="259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6287822" y="5739677"/>
            <a:ext cx="5913590" cy="215667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05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거래처 선택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880821" y="2741613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거래처 명 검색 기능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4"/>
            <a:ext cx="10701619" cy="4860925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2056533" y="3537732"/>
            <a:ext cx="2184400" cy="142373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1755" y="5366287"/>
            <a:ext cx="4736555" cy="868276"/>
            <a:chOff x="4384082" y="4490256"/>
            <a:chExt cx="5571579" cy="868276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선택 클릭 시 등록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or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수정 페이지에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거래처 정보 자동 입력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21" idx="2"/>
          </p:cNvCxnSpPr>
          <p:nvPr/>
        </p:nvCxnSpPr>
        <p:spPr>
          <a:xfrm flipH="1">
            <a:off x="11940230" y="6162406"/>
            <a:ext cx="2778829" cy="77179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70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 선택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880821" y="2741613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제품명 검색 기능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1755" y="5366287"/>
            <a:ext cx="4736555" cy="868276"/>
            <a:chOff x="4384082" y="4490256"/>
            <a:chExt cx="5571579" cy="868276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   선택 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클릭 시 등록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or 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수정 페이지에</a:t>
              </a:r>
              <a:endParaRPr lang="en-US" altLang="ko-KR" sz="20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>
                  <a:solidFill>
                    <a:schemeClr val="tx1"/>
                  </a:solidFill>
                </a:rPr>
                <a:t>제품 정보 자동 입력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85782"/>
            <a:ext cx="10704370" cy="4848668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2084045" y="3554313"/>
            <a:ext cx="2184400" cy="142373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21" idx="2"/>
          </p:cNvCxnSpPr>
          <p:nvPr/>
        </p:nvCxnSpPr>
        <p:spPr>
          <a:xfrm flipH="1">
            <a:off x="11943912" y="6162406"/>
            <a:ext cx="2775147" cy="84863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80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수주 수정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880821" y="2741613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기존 수주 정보 불러오기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1755" y="5366287"/>
            <a:ext cx="4736555" cy="868276"/>
            <a:chOff x="4384082" y="4490256"/>
            <a:chExt cx="5571579" cy="868276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수정 시 수정 일자 생성 및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해당 거래처 최신 정보 반영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4973"/>
            <a:ext cx="10714671" cy="4859477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1980613" y="3537732"/>
            <a:ext cx="2260320" cy="12290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1785601" y="6162406"/>
            <a:ext cx="1522517" cy="238892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651000" y="4580467"/>
            <a:ext cx="10289230" cy="386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4572676" y="6327547"/>
            <a:ext cx="204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수정일자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기준으로 거래처 이력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정보 반영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4489" y="7207085"/>
            <a:ext cx="4243821" cy="4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5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</a:t>
            </a:r>
            <a:r>
              <a:rPr lang="ko-KR" altLang="en-US" sz="2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목록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91207"/>
            <a:ext cx="10693400" cy="4843243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5457770" y="2441029"/>
            <a:ext cx="4736555" cy="868276"/>
            <a:chOff x="4384082" y="4490256"/>
            <a:chExt cx="5571579" cy="86827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094134" y="2731817"/>
            <a:ext cx="4730225" cy="868276"/>
            <a:chOff x="4384082" y="4490256"/>
            <a:chExt cx="5571580" cy="868276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3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 dirty="0" smtClean="0">
                  <a:solidFill>
                    <a:schemeClr val="tx1"/>
                  </a:solidFill>
                </a:rPr>
                <a:t>        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입고 상태 별 도트 색상 변동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372469" y="2565341"/>
            <a:ext cx="367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월 마감 시 </a:t>
            </a:r>
            <a:endParaRPr lang="en-US" altLang="ko-KR" sz="2000" b="1" dirty="0" smtClean="0"/>
          </a:p>
          <a:p>
            <a:r>
              <a:rPr lang="ko-KR" altLang="en-US" sz="2000" b="1" dirty="0" smtClean="0"/>
              <a:t>발주 등록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수정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취소 불가 기능</a:t>
            </a:r>
            <a:endParaRPr lang="ko-KR" altLang="en-US" sz="2000" b="1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9402495" y="3600093"/>
            <a:ext cx="4209807" cy="184720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53713" y="3386901"/>
            <a:ext cx="2880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등록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수정 버튼 클릭 시</a:t>
            </a:r>
            <a:endParaRPr lang="en-US" altLang="ko-KR" b="1" dirty="0" smtClean="0"/>
          </a:p>
          <a:p>
            <a:r>
              <a:rPr lang="ko-KR" altLang="en-US" b="1" dirty="0" smtClean="0"/>
              <a:t>불가 메시지 출력</a:t>
            </a:r>
            <a:endParaRPr lang="ko-KR" altLang="en-US" b="1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81746" y="4960699"/>
            <a:ext cx="4730225" cy="868276"/>
            <a:chOff x="4384082" y="4490256"/>
            <a:chExt cx="5571580" cy="86827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3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 dirty="0" smtClean="0">
                  <a:solidFill>
                    <a:schemeClr val="tx1"/>
                  </a:solidFill>
                </a:rPr>
                <a:t>        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입고 상태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완료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,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마감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에 따라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      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수정 버튼 비활성화 기능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1862252" y="5794618"/>
            <a:ext cx="2883367" cy="50778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3537026" y="3232165"/>
            <a:ext cx="4430636" cy="101074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75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4"/>
            <a:ext cx="10718242" cy="4860926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976511" y="2801058"/>
            <a:ext cx="4736555" cy="868276"/>
            <a:chOff x="4384082" y="4490256"/>
            <a:chExt cx="5571579" cy="86827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승인 클릭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입고 상태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승인으로 변경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26" idx="2"/>
          </p:cNvCxnSpPr>
          <p:nvPr/>
        </p:nvCxnSpPr>
        <p:spPr>
          <a:xfrm flipH="1">
            <a:off x="5352176" y="3597177"/>
            <a:ext cx="9191639" cy="502947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65809" y="7032969"/>
            <a:ext cx="4736555" cy="868276"/>
            <a:chOff x="4384082" y="4490256"/>
            <a:chExt cx="5571579" cy="86827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수주 취소 클릭 시 논리적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삭제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진행 후 수주 목록 페이지로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0977185" y="7554407"/>
            <a:ext cx="1204779" cy="10722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6573618" y="2809778"/>
            <a:ext cx="4736555" cy="868276"/>
            <a:chOff x="4384082" y="4490256"/>
            <a:chExt cx="5571579" cy="86827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거래처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,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부품으로 테이블 분할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2585614" y="3607428"/>
            <a:ext cx="6506778" cy="101350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2205038" y="3607428"/>
            <a:ext cx="6805988" cy="339369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67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73524"/>
            <a:ext cx="10697316" cy="4860925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976511" y="2801058"/>
            <a:ext cx="4736555" cy="868276"/>
            <a:chOff x="4384082" y="4490256"/>
            <a:chExt cx="5571579" cy="86827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재 발주 요청 시 요청 상태로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변경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후 수정 페이지로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5638059" y="2442815"/>
            <a:ext cx="4736555" cy="868276"/>
            <a:chOff x="4384082" y="4490256"/>
            <a:chExt cx="5571579" cy="86827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완료 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클릭 시</a:t>
              </a:r>
              <a:endParaRPr lang="en-US" altLang="ko-KR" sz="20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입고 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상태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완료로 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변경</a:t>
              </a:r>
              <a:endParaRPr lang="en-US" altLang="ko-K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35132" y="5136065"/>
            <a:ext cx="4736555" cy="868276"/>
            <a:chOff x="4384082" y="4490256"/>
            <a:chExt cx="5571579" cy="868276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승인 취소 클릭 시 요청 상태로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변경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7158869" y="3233293"/>
            <a:ext cx="3867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+mn-ea"/>
              </a:rPr>
              <a:t>완료 시 </a:t>
            </a:r>
            <a:r>
              <a:rPr lang="en-US" altLang="ko-KR" b="1" dirty="0" smtClean="0">
                <a:latin typeface="+mn-ea"/>
              </a:rPr>
              <a:t>UPDATE</a:t>
            </a:r>
            <a:r>
              <a:rPr lang="ko-KR" altLang="en-US" b="1" dirty="0" smtClean="0">
                <a:latin typeface="+mn-ea"/>
              </a:rPr>
              <a:t>를 통해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b="1" dirty="0" smtClean="0">
                <a:latin typeface="+mn-ea"/>
              </a:rPr>
              <a:t>입고 대기 수량 </a:t>
            </a:r>
            <a:r>
              <a:rPr lang="en-US" altLang="ko-KR" b="1" dirty="0" smtClean="0">
                <a:latin typeface="+mn-ea"/>
              </a:rPr>
              <a:t>-&gt; </a:t>
            </a:r>
            <a:r>
              <a:rPr lang="ko-KR" altLang="en-US" b="1" dirty="0" smtClean="0">
                <a:latin typeface="+mn-ea"/>
              </a:rPr>
              <a:t>입고 수량으로 이동</a:t>
            </a:r>
            <a:endParaRPr lang="ko-KR" altLang="en-US" b="1" dirty="0">
              <a:latin typeface="+mn-ea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8063187" y="5968263"/>
            <a:ext cx="6634948" cy="261660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3110697" y="3287857"/>
            <a:ext cx="3793010" cy="529700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5461000" y="3556607"/>
            <a:ext cx="9330373" cy="507207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33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상세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73525"/>
            <a:ext cx="10693400" cy="4860925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35132" y="5136065"/>
            <a:ext cx="4736555" cy="868276"/>
            <a:chOff x="4384082" y="4490256"/>
            <a:chExt cx="5571579" cy="86827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완료 취소 클릭 시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승인 상태로 변경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8534400" y="5932184"/>
            <a:ext cx="6163735" cy="271651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83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등록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4"/>
            <a:ext cx="10697318" cy="4860925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5011" y="4416452"/>
            <a:ext cx="4736555" cy="868276"/>
            <a:chOff x="4384082" y="4490256"/>
            <a:chExt cx="5571579" cy="868276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 조회 클릭 시 부품 팝업 창으로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5917882" y="2660233"/>
            <a:ext cx="4736555" cy="868276"/>
            <a:chOff x="4384082" y="4490256"/>
            <a:chExt cx="5571579" cy="868276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조회 시 거래처 팝업 창으로 이동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155787" y="2680697"/>
            <a:ext cx="4736555" cy="868276"/>
            <a:chOff x="4384082" y="4490256"/>
            <a:chExt cx="5571579" cy="868276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납기일은 금일 이후 날짜 </a:t>
              </a:r>
              <a:r>
                <a:rPr lang="ko-KR" altLang="en-US" sz="2000" b="1" dirty="0" err="1" smtClean="0">
                  <a:solidFill>
                    <a:schemeClr val="tx1"/>
                  </a:solidFill>
                </a:rPr>
                <a:t>부터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선택 가능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6658472" y="3578346"/>
            <a:ext cx="404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거래처 관련 정보는 수기 입력 불가</a:t>
            </a:r>
            <a:endParaRPr lang="ko-KR" altLang="en-US" b="1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 flipV="1">
            <a:off x="10784203" y="8268490"/>
            <a:ext cx="1370808" cy="14079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61" idx="2"/>
          </p:cNvCxnSpPr>
          <p:nvPr/>
        </p:nvCxnSpPr>
        <p:spPr>
          <a:xfrm flipH="1">
            <a:off x="6157454" y="4850590"/>
            <a:ext cx="5997557" cy="28553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5003800" y="3456352"/>
            <a:ext cx="1738284" cy="213164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1617044" y="5370897"/>
            <a:ext cx="10263777" cy="981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5022264" y="3493731"/>
            <a:ext cx="7574748" cy="311184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그룹 93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72909" y="6115047"/>
            <a:ext cx="4736555" cy="868276"/>
            <a:chOff x="4384082" y="4490256"/>
            <a:chExt cx="5571579" cy="868276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부품 중복 선택 시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2000" b="1" dirty="0" smtClean="0">
                  <a:solidFill>
                    <a:schemeClr val="tx1"/>
                  </a:solidFill>
                </a:rPr>
                <a:t>“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이미 선택된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부품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”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 메시지 출력</a:t>
              </a:r>
              <a:endParaRPr lang="en-US" altLang="ko-K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04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96" idx="2"/>
          </p:cNvCxnSpPr>
          <p:nvPr/>
        </p:nvCxnSpPr>
        <p:spPr>
          <a:xfrm flipH="1">
            <a:off x="6216472" y="6549185"/>
            <a:ext cx="5956437" cy="133661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99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 선택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 flipV="1">
            <a:off x="10784203" y="8268490"/>
            <a:ext cx="1370808" cy="14079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2" y="4059212"/>
            <a:ext cx="10693401" cy="4875238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880821" y="2741613"/>
            <a:ext cx="4736555" cy="868276"/>
            <a:chOff x="4384082" y="4490256"/>
            <a:chExt cx="5571579" cy="868276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err="1" smtClean="0">
                  <a:solidFill>
                    <a:schemeClr val="tx1"/>
                  </a:solidFill>
                </a:rPr>
                <a:t>부품명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 검색 기능 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1755" y="5366287"/>
            <a:ext cx="4736555" cy="868276"/>
            <a:chOff x="4384082" y="4490256"/>
            <a:chExt cx="5571579" cy="868276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    선택 클릭 시 등록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 smtClean="0">
                  <a:solidFill>
                    <a:schemeClr val="tx1"/>
                  </a:solidFill>
                </a:rPr>
                <a:t>or </a:t>
              </a:r>
              <a:r>
                <a:rPr lang="ko-KR" altLang="en-US" sz="2000" b="1" dirty="0" smtClean="0">
                  <a:solidFill>
                    <a:schemeClr val="tx1"/>
                  </a:solidFill>
                </a:rPr>
                <a:t>수정 페이지에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부품 정보 자동 입력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1980613" y="3554313"/>
            <a:ext cx="2287832" cy="120818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32" idx="2"/>
          </p:cNvCxnSpPr>
          <p:nvPr/>
        </p:nvCxnSpPr>
        <p:spPr>
          <a:xfrm flipH="1">
            <a:off x="11980613" y="6162406"/>
            <a:ext cx="2738446" cy="70829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3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발주 수정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1880821" y="2741613"/>
            <a:ext cx="4736555" cy="868276"/>
            <a:chOff x="4384082" y="4490256"/>
            <a:chExt cx="5571579" cy="86827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기존 발주 정보 불러오기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B712DD8F-6934-2D45-4AD0-A052140DAB50}"/>
              </a:ext>
            </a:extLst>
          </p:cNvPr>
          <p:cNvGrpSpPr/>
          <p:nvPr/>
        </p:nvGrpSpPr>
        <p:grpSpPr>
          <a:xfrm>
            <a:off x="12151755" y="5366287"/>
            <a:ext cx="4736555" cy="868276"/>
            <a:chOff x="4384082" y="4490256"/>
            <a:chExt cx="5571579" cy="868276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5103352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수정 시 수정 일자 생성 및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000" b="1" dirty="0" smtClean="0">
                  <a:solidFill>
                    <a:schemeClr val="tx1"/>
                  </a:solidFill>
                </a:rPr>
                <a:t>해당 거래처 최신 정보 반영</a:t>
              </a:r>
              <a:endParaRPr lang="en-US" altLang="ko-KR" sz="2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xmlns="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5"/>
            <a:ext cx="10697318" cy="4860925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/>
          <p:nvPr/>
        </p:nvCxnSpPr>
        <p:spPr>
          <a:xfrm flipH="1">
            <a:off x="11980613" y="3537732"/>
            <a:ext cx="2260320" cy="12290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A2A83C5B-5BFD-5775-2A86-6FE422C41732}"/>
              </a:ext>
            </a:extLst>
          </p:cNvPr>
          <p:cNvCxnSpPr>
            <a:stCxn id="21" idx="2"/>
          </p:cNvCxnSpPr>
          <p:nvPr/>
        </p:nvCxnSpPr>
        <p:spPr>
          <a:xfrm flipH="1">
            <a:off x="11785600" y="6162406"/>
            <a:ext cx="2933459" cy="238892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1651000" y="4580467"/>
            <a:ext cx="10289230" cy="386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4572676" y="6327547"/>
            <a:ext cx="204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수정일자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기준으로 거래처 이력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정보 반영</a:t>
            </a:r>
            <a:endParaRPr lang="en-US" altLang="ko-KR" b="1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4937" y="7276625"/>
            <a:ext cx="3510779" cy="38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8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21" y="3515545"/>
            <a:ext cx="12094526" cy="5713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그룹 12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1714895" y="2422179"/>
            <a:ext cx="5165421" cy="868276"/>
            <a:chOff x="4384082" y="4490256"/>
            <a:chExt cx="5165421" cy="868276"/>
          </a:xfrm>
        </p:grpSpPr>
        <p:sp>
          <p:nvSpPr>
            <p:cNvPr id="14" name="직사각형 13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4697195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재고 </a:t>
              </a:r>
              <a:r>
                <a:rPr lang="ko-KR" altLang="en-US" sz="2200" b="1" dirty="0" err="1" smtClean="0">
                  <a:solidFill>
                    <a:srgbClr val="8E8791"/>
                  </a:solidFill>
                </a:rPr>
                <a:t>대분류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 </a:t>
              </a:r>
              <a:r>
                <a:rPr lang="ko-KR" altLang="en-US" sz="2200" b="1" dirty="0" err="1" smtClean="0">
                  <a:solidFill>
                    <a:srgbClr val="8E8791"/>
                  </a:solidFill>
                </a:rPr>
                <a:t>토글버튼</a:t>
              </a:r>
              <a:r>
                <a:rPr lang="en-US" altLang="ko-KR" sz="2200" b="1" dirty="0" smtClean="0">
                  <a:solidFill>
                    <a:srgbClr val="8E8791"/>
                  </a:solidFill>
                </a:rPr>
                <a:t>(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부품</a:t>
              </a:r>
              <a:r>
                <a:rPr lang="en-US" altLang="ko-KR" sz="2200" b="1" dirty="0" smtClean="0">
                  <a:solidFill>
                    <a:srgbClr val="8E8791"/>
                  </a:solidFill>
                </a:rPr>
                <a:t>)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15" idx="2"/>
          </p:cNvCxnSpPr>
          <p:nvPr/>
        </p:nvCxnSpPr>
        <p:spPr>
          <a:xfrm flipH="1">
            <a:off x="1741714" y="2856317"/>
            <a:ext cx="9973181" cy="124578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3842496"/>
            <a:ext cx="3859337" cy="868276"/>
            <a:chOff x="4384082" y="4490256"/>
            <a:chExt cx="3859337" cy="868276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부품 엑셀 다운로드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2"/>
          </p:cNvCxnSpPr>
          <p:nvPr/>
        </p:nvCxnSpPr>
        <p:spPr>
          <a:xfrm flipH="1" flipV="1">
            <a:off x="12696825" y="4195763"/>
            <a:ext cx="324154" cy="8087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5262814"/>
            <a:ext cx="3859337" cy="868276"/>
            <a:chOff x="4384082" y="4490256"/>
            <a:chExt cx="3859337" cy="868276"/>
          </a:xfrm>
        </p:grpSpPr>
        <p:sp>
          <p:nvSpPr>
            <p:cNvPr id="32" name="직사각형 31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재고 수량 조정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5" name="직선 연결선 34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3" idx="2"/>
          </p:cNvCxnSpPr>
          <p:nvPr/>
        </p:nvCxnSpPr>
        <p:spPr>
          <a:xfrm flipH="1">
            <a:off x="12586046" y="5696952"/>
            <a:ext cx="434933" cy="3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308930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재고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부품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692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90" y="3547957"/>
            <a:ext cx="12071729" cy="571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그룹 12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3842496"/>
            <a:ext cx="3859337" cy="868276"/>
            <a:chOff x="4384082" y="4490256"/>
            <a:chExt cx="3859337" cy="868276"/>
          </a:xfrm>
        </p:grpSpPr>
        <p:sp>
          <p:nvSpPr>
            <p:cNvPr id="14" name="직사각형 13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제품 엑셀 다운로드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15" idx="2"/>
          </p:cNvCxnSpPr>
          <p:nvPr/>
        </p:nvCxnSpPr>
        <p:spPr>
          <a:xfrm flipH="1" flipV="1">
            <a:off x="12696825" y="4229100"/>
            <a:ext cx="324154" cy="4753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5262814"/>
            <a:ext cx="3859337" cy="868276"/>
            <a:chOff x="4384082" y="4490256"/>
            <a:chExt cx="3859337" cy="868276"/>
          </a:xfrm>
        </p:grpSpPr>
        <p:sp>
          <p:nvSpPr>
            <p:cNvPr id="19" name="직사각형 18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수량 부족 재고 강조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2" name="직선 연결선 21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0" idx="2"/>
          </p:cNvCxnSpPr>
          <p:nvPr/>
        </p:nvCxnSpPr>
        <p:spPr>
          <a:xfrm flipH="1">
            <a:off x="11832280" y="5696952"/>
            <a:ext cx="1188699" cy="36198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1714895" y="2422179"/>
            <a:ext cx="5165421" cy="868276"/>
            <a:chOff x="4384082" y="4490256"/>
            <a:chExt cx="5165421" cy="868276"/>
          </a:xfrm>
        </p:grpSpPr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4697195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재고 </a:t>
              </a:r>
              <a:r>
                <a:rPr lang="ko-KR" altLang="en-US" sz="2200" b="1" dirty="0" err="1" smtClean="0">
                  <a:solidFill>
                    <a:srgbClr val="8E8791"/>
                  </a:solidFill>
                </a:rPr>
                <a:t>대분류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 </a:t>
              </a:r>
              <a:r>
                <a:rPr lang="ko-KR" altLang="en-US" sz="2200" b="1" dirty="0" err="1" smtClean="0">
                  <a:solidFill>
                    <a:srgbClr val="8E8791"/>
                  </a:solidFill>
                </a:rPr>
                <a:t>토글버튼</a:t>
              </a:r>
              <a:r>
                <a:rPr lang="en-US" altLang="ko-KR" sz="2200" b="1" dirty="0" smtClean="0">
                  <a:solidFill>
                    <a:srgbClr val="8E8791"/>
                  </a:solidFill>
                </a:rPr>
                <a:t>(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제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품</a:t>
              </a:r>
              <a:r>
                <a:rPr lang="en-US" altLang="ko-KR" sz="2200" b="1" dirty="0" smtClean="0">
                  <a:solidFill>
                    <a:srgbClr val="8E8791"/>
                  </a:solidFill>
                </a:rPr>
                <a:t>)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8" name="직선 연결선 27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6" idx="2"/>
          </p:cNvCxnSpPr>
          <p:nvPr/>
        </p:nvCxnSpPr>
        <p:spPr>
          <a:xfrm flipH="1">
            <a:off x="1741714" y="2856317"/>
            <a:ext cx="9973181" cy="126574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74743" y="6093893"/>
            <a:ext cx="2821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8E8791"/>
                </a:solidFill>
              </a:rPr>
              <a:t>0</a:t>
            </a:r>
            <a:r>
              <a:rPr lang="ko-KR" altLang="en-US" b="1" dirty="0" smtClean="0">
                <a:solidFill>
                  <a:srgbClr val="8E8791"/>
                </a:solidFill>
              </a:rPr>
              <a:t>개 이하일 경우 재고 강조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9538" y="2616808"/>
            <a:ext cx="308930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재고 관리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038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4785320"/>
            <a:ext cx="13676312" cy="44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그룹 28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6459057" y="2422179"/>
            <a:ext cx="4716943" cy="868276"/>
            <a:chOff x="4384082" y="4490256"/>
            <a:chExt cx="4716943" cy="868276"/>
          </a:xfrm>
        </p:grpSpPr>
        <p:sp>
          <p:nvSpPr>
            <p:cNvPr id="30" name="직사각형 29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4248717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재고 관리 목록으로 이동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1" idx="3"/>
          </p:cNvCxnSpPr>
          <p:nvPr/>
        </p:nvCxnSpPr>
        <p:spPr>
          <a:xfrm flipH="1">
            <a:off x="1549400" y="3163299"/>
            <a:ext cx="5037234" cy="16906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1589857" y="2425385"/>
            <a:ext cx="5313842" cy="868276"/>
            <a:chOff x="4384082" y="4490256"/>
            <a:chExt cx="5313842" cy="868276"/>
          </a:xfrm>
        </p:grpSpPr>
        <p:sp>
          <p:nvSpPr>
            <p:cNvPr id="37" name="직사각형 36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7" y="4568825"/>
              <a:ext cx="4845617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재고 조정 근거 첨부 파일 등록</a:t>
              </a:r>
            </a:p>
          </p:txBody>
        </p:sp>
        <p:sp>
          <p:nvSpPr>
            <p:cNvPr id="38" name="타원 37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0" name="직선 연결선 39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38" idx="3"/>
          </p:cNvCxnSpPr>
          <p:nvPr/>
        </p:nvCxnSpPr>
        <p:spPr>
          <a:xfrm flipH="1">
            <a:off x="1549400" y="3166505"/>
            <a:ext cx="10168034" cy="46693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1589857" y="3643815"/>
            <a:ext cx="5313842" cy="868276"/>
            <a:chOff x="4384082" y="4490256"/>
            <a:chExt cx="5313842" cy="868276"/>
          </a:xfrm>
        </p:grpSpPr>
        <p:sp>
          <p:nvSpPr>
            <p:cNvPr id="59" name="직사각형 58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7" y="4568825"/>
              <a:ext cx="4845617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조정 수량으로 재고 조정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62" name="직선 연결선 61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60" idx="4"/>
          </p:cNvCxnSpPr>
          <p:nvPr/>
        </p:nvCxnSpPr>
        <p:spPr>
          <a:xfrm flipH="1">
            <a:off x="7696200" y="4512091"/>
            <a:ext cx="4329233" cy="405088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349538" y="2616808"/>
            <a:ext cx="231024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재고 조정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4754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66" y="4141211"/>
            <a:ext cx="12094934" cy="509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16" idx="3"/>
          </p:cNvCxnSpPr>
          <p:nvPr/>
        </p:nvCxnSpPr>
        <p:spPr>
          <a:xfrm flipH="1">
            <a:off x="2362200" y="3163299"/>
            <a:ext cx="3041372" cy="19040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5275995" y="2422179"/>
            <a:ext cx="4033105" cy="868276"/>
            <a:chOff x="4384082" y="4490256"/>
            <a:chExt cx="4033105" cy="868276"/>
          </a:xfrm>
        </p:grpSpPr>
        <p:sp>
          <p:nvSpPr>
            <p:cNvPr id="15" name="직사각형 14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356487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재고 입출고 분류</a:t>
              </a:r>
              <a:endParaRPr lang="en-US" altLang="ko-KR" sz="2200" b="1" dirty="0" smtClean="0">
                <a:solidFill>
                  <a:srgbClr val="8E879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029759" y="3252355"/>
            <a:ext cx="501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수주</a:t>
            </a:r>
            <a:r>
              <a:rPr lang="en-US" altLang="ko-KR" b="1" dirty="0" smtClean="0">
                <a:solidFill>
                  <a:srgbClr val="8E8791"/>
                </a:solidFill>
              </a:rPr>
              <a:t>, </a:t>
            </a:r>
            <a:r>
              <a:rPr lang="ko-KR" altLang="en-US" b="1" dirty="0" smtClean="0">
                <a:solidFill>
                  <a:srgbClr val="8E8791"/>
                </a:solidFill>
              </a:rPr>
              <a:t>수주취소</a:t>
            </a:r>
            <a:r>
              <a:rPr lang="en-US" altLang="ko-KR" b="1" dirty="0" smtClean="0">
                <a:solidFill>
                  <a:srgbClr val="8E8791"/>
                </a:solidFill>
              </a:rPr>
              <a:t>, </a:t>
            </a:r>
            <a:r>
              <a:rPr lang="ko-KR" altLang="en-US" b="1" dirty="0" smtClean="0">
                <a:solidFill>
                  <a:srgbClr val="8E8791"/>
                </a:solidFill>
              </a:rPr>
              <a:t>발주</a:t>
            </a:r>
            <a:r>
              <a:rPr lang="en-US" altLang="ko-KR" b="1" dirty="0" smtClean="0">
                <a:solidFill>
                  <a:srgbClr val="8E8791"/>
                </a:solidFill>
              </a:rPr>
              <a:t>,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r>
              <a:rPr lang="ko-KR" altLang="en-US" b="1" dirty="0" smtClean="0">
                <a:solidFill>
                  <a:srgbClr val="8E8791"/>
                </a:solidFill>
              </a:rPr>
              <a:t>발주취소</a:t>
            </a:r>
            <a:r>
              <a:rPr lang="en-US" altLang="ko-KR" b="1" dirty="0" smtClean="0">
                <a:solidFill>
                  <a:srgbClr val="8E8791"/>
                </a:solidFill>
              </a:rPr>
              <a:t>, </a:t>
            </a:r>
            <a:r>
              <a:rPr lang="ko-KR" altLang="en-US" b="1" dirty="0" smtClean="0">
                <a:solidFill>
                  <a:srgbClr val="8E8791"/>
                </a:solidFill>
              </a:rPr>
              <a:t>제조</a:t>
            </a:r>
            <a:r>
              <a:rPr lang="en-US" altLang="ko-KR" b="1" dirty="0" smtClean="0">
                <a:solidFill>
                  <a:srgbClr val="8E8791"/>
                </a:solidFill>
              </a:rPr>
              <a:t>, </a:t>
            </a:r>
            <a:r>
              <a:rPr lang="ko-KR" altLang="en-US" b="1" dirty="0" smtClean="0">
                <a:solidFill>
                  <a:srgbClr val="8E8791"/>
                </a:solidFill>
              </a:rPr>
              <a:t>분해</a:t>
            </a:r>
            <a:r>
              <a:rPr lang="en-US" altLang="ko-KR" b="1" dirty="0" smtClean="0">
                <a:solidFill>
                  <a:srgbClr val="8E8791"/>
                </a:solidFill>
              </a:rPr>
              <a:t>, </a:t>
            </a:r>
            <a:r>
              <a:rPr lang="ko-KR" altLang="en-US" b="1" dirty="0" smtClean="0">
                <a:solidFill>
                  <a:srgbClr val="8E8791"/>
                </a:solidFill>
              </a:rPr>
              <a:t>조정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1905395" y="2421685"/>
            <a:ext cx="4985605" cy="868276"/>
            <a:chOff x="4384082" y="4490256"/>
            <a:chExt cx="4985605" cy="868276"/>
          </a:xfrm>
        </p:grpSpPr>
        <p:sp>
          <p:nvSpPr>
            <p:cNvPr id="24" name="직사각형 23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451737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smtClean="0">
                  <a:solidFill>
                    <a:srgbClr val="8E8791"/>
                  </a:solidFill>
                </a:rPr>
                <a:t>재고 변동 수량과 </a:t>
              </a:r>
              <a:r>
                <a:rPr lang="ko-KR" altLang="en-US" sz="2200" b="1" dirty="0" err="1" smtClean="0">
                  <a:solidFill>
                    <a:srgbClr val="8E8791"/>
                  </a:solidFill>
                </a:rPr>
                <a:t>현수량</a:t>
              </a:r>
              <a:endParaRPr lang="en-US" altLang="ko-KR" sz="2200" b="1" dirty="0" smtClean="0">
                <a:solidFill>
                  <a:srgbClr val="8E8791"/>
                </a:solidFill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7" name="직선 연결선 26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5" idx="3"/>
          </p:cNvCxnSpPr>
          <p:nvPr/>
        </p:nvCxnSpPr>
        <p:spPr>
          <a:xfrm flipH="1">
            <a:off x="8610601" y="3162805"/>
            <a:ext cx="3422371" cy="19044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3842496"/>
            <a:ext cx="3859337" cy="868276"/>
            <a:chOff x="4384082" y="4490256"/>
            <a:chExt cx="3859337" cy="868276"/>
          </a:xfrm>
        </p:grpSpPr>
        <p:sp>
          <p:nvSpPr>
            <p:cNvPr id="48" name="직사각형 47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재고 조정 첨부파일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51" name="직선 연결선 50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49" idx="4"/>
          </p:cNvCxnSpPr>
          <p:nvPr/>
        </p:nvCxnSpPr>
        <p:spPr>
          <a:xfrm flipH="1">
            <a:off x="12340969" y="4710772"/>
            <a:ext cx="1115586" cy="76610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1349538" y="2616808"/>
            <a:ext cx="280076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입출고 이력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2848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41" y="4235450"/>
            <a:ext cx="11838985" cy="4994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직선 연결선 8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12" idx="4"/>
          </p:cNvCxnSpPr>
          <p:nvPr/>
        </p:nvCxnSpPr>
        <p:spPr>
          <a:xfrm>
            <a:off x="8530971" y="3290455"/>
            <a:ext cx="223563" cy="14529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8095395" y="2422179"/>
            <a:ext cx="4033105" cy="868276"/>
            <a:chOff x="4384082" y="4490256"/>
            <a:chExt cx="4033105" cy="868276"/>
          </a:xfrm>
        </p:grpSpPr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356487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err="1" smtClean="0">
                  <a:solidFill>
                    <a:srgbClr val="8E8791"/>
                  </a:solidFill>
                </a:rPr>
                <a:t>월마감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 기간별 조회</a:t>
              </a:r>
              <a:endParaRPr lang="en-US" altLang="ko-KR" sz="2200" b="1" dirty="0" smtClean="0">
                <a:solidFill>
                  <a:srgbClr val="8E8791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849159" y="3252355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기본 </a:t>
            </a:r>
            <a:r>
              <a:rPr lang="en-US" altLang="ko-KR" b="1" dirty="0" smtClean="0">
                <a:solidFill>
                  <a:srgbClr val="8E8791"/>
                </a:solidFill>
              </a:rPr>
              <a:t>1</a:t>
            </a:r>
            <a:r>
              <a:rPr lang="ko-KR" altLang="en-US" b="1" dirty="0" smtClean="0">
                <a:solidFill>
                  <a:srgbClr val="8E8791"/>
                </a:solidFill>
              </a:rPr>
              <a:t>개월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35695" y="2421685"/>
            <a:ext cx="3829905" cy="868276"/>
            <a:chOff x="4384082" y="4490256"/>
            <a:chExt cx="3829905" cy="868276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336167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err="1" smtClean="0">
                  <a:solidFill>
                    <a:srgbClr val="8E8791"/>
                  </a:solidFill>
                </a:rPr>
                <a:t>월마감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 취소 기능</a:t>
              </a:r>
              <a:endParaRPr lang="en-US" altLang="ko-KR" sz="2200" b="1" dirty="0" smtClean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3"/>
          </p:cNvCxnSpPr>
          <p:nvPr/>
        </p:nvCxnSpPr>
        <p:spPr>
          <a:xfrm flipH="1">
            <a:off x="11704320" y="3162805"/>
            <a:ext cx="1458952" cy="117297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789459" y="3289961"/>
            <a:ext cx="2420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당월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월마감</a:t>
            </a:r>
            <a:r>
              <a:rPr lang="ko-KR" altLang="en-US" b="1" dirty="0" smtClean="0">
                <a:solidFill>
                  <a:srgbClr val="8E8791"/>
                </a:solidFill>
              </a:rPr>
              <a:t> 삭제 후 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전일 기준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월마감</a:t>
            </a:r>
            <a:r>
              <a:rPr lang="ko-KR" altLang="en-US" b="1" dirty="0" smtClean="0">
                <a:solidFill>
                  <a:srgbClr val="8E8791"/>
                </a:solidFill>
              </a:rPr>
              <a:t> 진행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4566396"/>
            <a:ext cx="3859337" cy="868276"/>
            <a:chOff x="4384082" y="4490256"/>
            <a:chExt cx="3859337" cy="868276"/>
          </a:xfrm>
        </p:grpSpPr>
        <p:sp>
          <p:nvSpPr>
            <p:cNvPr id="39" name="직사각형 38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err="1" smtClean="0">
                  <a:solidFill>
                    <a:srgbClr val="8E8791"/>
                  </a:solidFill>
                </a:rPr>
                <a:t>월마감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 기능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03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43" name="직선 연결선 42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40" idx="2"/>
          </p:cNvCxnSpPr>
          <p:nvPr/>
        </p:nvCxnSpPr>
        <p:spPr>
          <a:xfrm flipH="1" flipV="1">
            <a:off x="12433796" y="4566396"/>
            <a:ext cx="587183" cy="43413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789459" y="5434672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금</a:t>
            </a:r>
            <a:r>
              <a:rPr lang="ko-KR" altLang="en-US" b="1" dirty="0" smtClean="0">
                <a:solidFill>
                  <a:srgbClr val="8E8791"/>
                </a:solidFill>
              </a:rPr>
              <a:t>일 기준 </a:t>
            </a:r>
            <a:r>
              <a:rPr lang="ko-KR" altLang="en-US" b="1" dirty="0" err="1" smtClean="0">
                <a:solidFill>
                  <a:srgbClr val="8E8791"/>
                </a:solidFill>
              </a:rPr>
              <a:t>월마감</a:t>
            </a:r>
            <a:r>
              <a:rPr lang="ko-KR" altLang="en-US" b="1" dirty="0" smtClean="0">
                <a:solidFill>
                  <a:srgbClr val="8E8791"/>
                </a:solidFill>
              </a:rPr>
              <a:t> 진행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349538" y="2616808"/>
            <a:ext cx="280076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월마감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이력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367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xmlns="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35" y="4469956"/>
            <a:ext cx="11212966" cy="4739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601" y="5942893"/>
            <a:ext cx="3733799" cy="2271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직선 연결선 14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19" idx="3"/>
          </p:cNvCxnSpPr>
          <p:nvPr/>
        </p:nvCxnSpPr>
        <p:spPr>
          <a:xfrm flipH="1">
            <a:off x="4343400" y="3162805"/>
            <a:ext cx="8819872" cy="40380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35695" y="2421685"/>
            <a:ext cx="3829905" cy="868276"/>
            <a:chOff x="4384082" y="4490256"/>
            <a:chExt cx="3829905" cy="868276"/>
          </a:xfrm>
        </p:grpSpPr>
        <p:sp>
          <p:nvSpPr>
            <p:cNvPr id="18" name="직사각형 17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8" y="4568825"/>
              <a:ext cx="336167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smtClean="0">
                  <a:solidFill>
                    <a:srgbClr val="8E8791"/>
                  </a:solidFill>
                </a:rPr>
                <a:t>권한</a:t>
              </a:r>
              <a:r>
                <a:rPr lang="en-US" altLang="ko-KR" sz="2200" b="1" dirty="0" smtClean="0">
                  <a:solidFill>
                    <a:srgbClr val="8E8791"/>
                  </a:solidFill>
                </a:rPr>
                <a:t>/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보안 확인</a:t>
              </a:r>
              <a:endParaRPr lang="en-US" altLang="ko-KR" sz="2200" b="1" dirty="0" smtClean="0">
                <a:solidFill>
                  <a:srgbClr val="8E879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01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789459" y="3289961"/>
            <a:ext cx="2084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8E8791"/>
                </a:solidFill>
              </a:rPr>
              <a:t>로그인한 사용자의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smtClean="0">
                <a:solidFill>
                  <a:srgbClr val="8E8791"/>
                </a:solidFill>
              </a:rPr>
              <a:t>비밀번호 확인</a:t>
            </a:r>
            <a:endParaRPr lang="en-US" altLang="ko-KR" b="1" dirty="0" smtClean="0">
              <a:solidFill>
                <a:srgbClr val="8E8791"/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B712DD8F-6934-2D45-4AD0-A052140DAB50}"/>
              </a:ext>
            </a:extLst>
          </p:cNvPr>
          <p:cNvGrpSpPr/>
          <p:nvPr/>
        </p:nvGrpSpPr>
        <p:grpSpPr>
          <a:xfrm>
            <a:off x="13020979" y="4566396"/>
            <a:ext cx="3859337" cy="868276"/>
            <a:chOff x="4384082" y="4490256"/>
            <a:chExt cx="3859337" cy="868276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4852309" y="456882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 err="1" smtClean="0">
                  <a:solidFill>
                    <a:srgbClr val="8E8791"/>
                  </a:solidFill>
                </a:rPr>
                <a:t>가마감</a:t>
              </a:r>
              <a:r>
                <a:rPr lang="en-US" altLang="ko-KR" sz="2200" b="1" dirty="0" smtClean="0">
                  <a:solidFill>
                    <a:srgbClr val="8E8791"/>
                  </a:solidFill>
                </a:rPr>
                <a:t>/</a:t>
              </a:r>
              <a:r>
                <a:rPr lang="ko-KR" altLang="en-US" sz="2200" b="1" dirty="0" err="1" smtClean="0">
                  <a:solidFill>
                    <a:srgbClr val="8E8791"/>
                  </a:solidFill>
                </a:rPr>
                <a:t>월마감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 </a:t>
              </a:r>
              <a:r>
                <a:rPr lang="ko-KR" altLang="en-US" sz="2200" b="1" dirty="0" smtClean="0">
                  <a:solidFill>
                    <a:srgbClr val="8E8791"/>
                  </a:solidFill>
                </a:rPr>
                <a:t>기능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BBF30BD5-5819-8DB9-13C7-35EB2965FC89}"/>
                </a:ext>
              </a:extLst>
            </p:cNvPr>
            <p:cNvSpPr/>
            <p:nvPr/>
          </p:nvSpPr>
          <p:spPr>
            <a:xfrm>
              <a:off x="4384082" y="4490256"/>
              <a:ext cx="871151" cy="868276"/>
            </a:xfrm>
            <a:prstGeom prst="ellipse">
              <a:avLst/>
            </a:prstGeom>
            <a:solidFill>
              <a:srgbClr val="FFFFFF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0055AB3-2309-1F80-0D7A-B9C061498DFF}"/>
                </a:ext>
              </a:extLst>
            </p:cNvPr>
            <p:cNvSpPr/>
            <p:nvPr/>
          </p:nvSpPr>
          <p:spPr>
            <a:xfrm>
              <a:off x="4501467" y="4606204"/>
              <a:ext cx="636379" cy="636379"/>
            </a:xfrm>
            <a:prstGeom prst="ellipse">
              <a:avLst/>
            </a:prstGeom>
            <a:solidFill>
              <a:srgbClr val="262F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4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02</a:t>
              </a:r>
              <a:endPara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789459" y="5434672"/>
            <a:ext cx="2254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8E8791"/>
                </a:solidFill>
              </a:rPr>
              <a:t>가마감</a:t>
            </a:r>
            <a:r>
              <a:rPr lang="ko-KR" altLang="en-US" b="1" dirty="0" smtClean="0">
                <a:solidFill>
                  <a:srgbClr val="8E8791"/>
                </a:solidFill>
              </a:rPr>
              <a:t> </a:t>
            </a:r>
            <a:r>
              <a:rPr lang="en-US" altLang="ko-KR" b="1" dirty="0" smtClean="0">
                <a:solidFill>
                  <a:srgbClr val="8E8791"/>
                </a:solidFill>
              </a:rPr>
              <a:t>: </a:t>
            </a:r>
            <a:r>
              <a:rPr lang="ko-KR" altLang="en-US" b="1" dirty="0" smtClean="0">
                <a:solidFill>
                  <a:srgbClr val="8E8791"/>
                </a:solidFill>
              </a:rPr>
              <a:t>내부 점검용</a:t>
            </a:r>
            <a:endParaRPr lang="en-US" altLang="ko-KR" b="1" dirty="0" smtClean="0">
              <a:solidFill>
                <a:srgbClr val="8E8791"/>
              </a:solidFill>
            </a:endParaRPr>
          </a:p>
          <a:p>
            <a:r>
              <a:rPr lang="ko-KR" altLang="en-US" b="1" dirty="0" err="1" smtClean="0">
                <a:solidFill>
                  <a:srgbClr val="8E8791"/>
                </a:solidFill>
              </a:rPr>
              <a:t>월마감</a:t>
            </a:r>
            <a:r>
              <a:rPr lang="ko-KR" altLang="en-US" b="1" dirty="0" smtClean="0">
                <a:solidFill>
                  <a:srgbClr val="8E8791"/>
                </a:solidFill>
              </a:rPr>
              <a:t> </a:t>
            </a:r>
            <a:r>
              <a:rPr lang="en-US" altLang="ko-KR" b="1" dirty="0" smtClean="0">
                <a:solidFill>
                  <a:srgbClr val="8E8791"/>
                </a:solidFill>
              </a:rPr>
              <a:t>: </a:t>
            </a:r>
            <a:r>
              <a:rPr lang="ko-KR" altLang="en-US" b="1" dirty="0" smtClean="0">
                <a:solidFill>
                  <a:srgbClr val="8E8791"/>
                </a:solidFill>
              </a:rPr>
              <a:t>최종 확정용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="" xmlns:a16="http://schemas.microsoft.com/office/drawing/2014/main" id="{A2A83C5B-5BFD-5775-2A86-6FE422C41732}"/>
              </a:ext>
            </a:extLst>
          </p:cNvPr>
          <p:cNvCxnSpPr>
            <a:stCxn id="24" idx="3"/>
          </p:cNvCxnSpPr>
          <p:nvPr/>
        </p:nvCxnSpPr>
        <p:spPr>
          <a:xfrm flipH="1">
            <a:off x="10105886" y="5307516"/>
            <a:ext cx="3042670" cy="240138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1349538" y="2616808"/>
            <a:ext cx="388760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월마감</a:t>
            </a:r>
            <a:r>
              <a:rPr lang="ko-KR" altLang="en-US" sz="39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이력 </a:t>
            </a:r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월마감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1700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1153</Words>
  <Application>Microsoft Office PowerPoint</Application>
  <PresentationFormat>사용자 지정</PresentationFormat>
  <Paragraphs>400</Paragraphs>
  <Slides>40</Slides>
  <Notes>29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1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제작발표자료</dc:title>
  <dc:subject>Presentation</dc:subject>
  <dc:creator>mangoboard.net_49757783</dc:creator>
  <cp:lastModifiedBy>user</cp:lastModifiedBy>
  <cp:revision>111</cp:revision>
  <dcterms:created xsi:type="dcterms:W3CDTF">2025-07-24T05:50:14Z</dcterms:created>
  <dcterms:modified xsi:type="dcterms:W3CDTF">2025-08-26T07:38:40Z</dcterms:modified>
</cp:coreProperties>
</file>